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</p:sldIdLst>
  <p:sldSz cx="18288000" cy="10287000"/>
  <p:notesSz cx="6858000" cy="9144000"/>
  <p:embeddedFontLst>
    <p:embeddedFont>
      <p:font typeface="Calibri (MS)" panose="020B0604020202020204" charset="0"/>
      <p:regular r:id="rId19"/>
    </p:embeddedFont>
    <p:embeddedFont>
      <p:font typeface="Calibri (MS) Bold" panose="020B0604020202020204" charset="0"/>
      <p:regular r:id="rId20"/>
    </p:embeddedFont>
    <p:embeddedFont>
      <p:font typeface="Calibri (MS) Bold Italics" panose="020B0604020202020204" charset="0"/>
      <p:regular r:id="rId21"/>
    </p:embeddedFont>
    <p:embeddedFont>
      <p:font typeface="Roboto" panose="020F0502020204030204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2.jpe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6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2.jpeg"/><Relationship Id="rId9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e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6" y="6797669"/>
            <a:ext cx="4473569" cy="3616319"/>
            <a:chOff x="0" y="0"/>
            <a:chExt cx="2236788" cy="1808162"/>
          </a:xfrm>
        </p:grpSpPr>
        <p:sp>
          <p:nvSpPr>
            <p:cNvPr id="3" name="Freeform 3"/>
            <p:cNvSpPr/>
            <p:nvPr/>
          </p:nvSpPr>
          <p:spPr>
            <a:xfrm>
              <a:off x="63500" y="68326"/>
              <a:ext cx="2105025" cy="1676400"/>
            </a:xfrm>
            <a:custGeom>
              <a:avLst/>
              <a:gdLst/>
              <a:ahLst/>
              <a:cxnLst/>
              <a:rect l="l" t="t" r="r" b="b"/>
              <a:pathLst>
                <a:path w="2105025" h="1676400">
                  <a:moveTo>
                    <a:pt x="504825" y="0"/>
                  </a:moveTo>
                  <a:cubicBezTo>
                    <a:pt x="399796" y="0"/>
                    <a:pt x="295656" y="10287"/>
                    <a:pt x="192659" y="30734"/>
                  </a:cubicBezTo>
                  <a:cubicBezTo>
                    <a:pt x="127254" y="43688"/>
                    <a:pt x="62992" y="60706"/>
                    <a:pt x="0" y="81661"/>
                  </a:cubicBezTo>
                  <a:lnTo>
                    <a:pt x="0" y="1676400"/>
                  </a:lnTo>
                  <a:lnTo>
                    <a:pt x="2103247" y="1676400"/>
                  </a:lnTo>
                  <a:cubicBezTo>
                    <a:pt x="2104390" y="1651000"/>
                    <a:pt x="2105025" y="1625600"/>
                    <a:pt x="2105025" y="1600200"/>
                  </a:cubicBezTo>
                  <a:cubicBezTo>
                    <a:pt x="2105025" y="1495171"/>
                    <a:pt x="2094738" y="1391031"/>
                    <a:pt x="2074291" y="1288034"/>
                  </a:cubicBezTo>
                  <a:cubicBezTo>
                    <a:pt x="2053844" y="1185037"/>
                    <a:pt x="2023491" y="1084961"/>
                    <a:pt x="1983232" y="987806"/>
                  </a:cubicBezTo>
                  <a:cubicBezTo>
                    <a:pt x="1942973" y="890651"/>
                    <a:pt x="1893697" y="798576"/>
                    <a:pt x="1835404" y="711200"/>
                  </a:cubicBezTo>
                  <a:cubicBezTo>
                    <a:pt x="1777111" y="623824"/>
                    <a:pt x="1710690" y="543052"/>
                    <a:pt x="1636395" y="468757"/>
                  </a:cubicBezTo>
                  <a:cubicBezTo>
                    <a:pt x="1562100" y="394462"/>
                    <a:pt x="1481328" y="328168"/>
                    <a:pt x="1393952" y="269748"/>
                  </a:cubicBezTo>
                  <a:cubicBezTo>
                    <a:pt x="1306576" y="211328"/>
                    <a:pt x="1214374" y="162052"/>
                    <a:pt x="1117346" y="121920"/>
                  </a:cubicBezTo>
                  <a:cubicBezTo>
                    <a:pt x="1020318" y="81788"/>
                    <a:pt x="920115" y="51181"/>
                    <a:pt x="816991" y="30734"/>
                  </a:cubicBezTo>
                  <a:cubicBezTo>
                    <a:pt x="713867" y="10287"/>
                    <a:pt x="609854" y="0"/>
                    <a:pt x="504825" y="0"/>
                  </a:cubicBezTo>
                  <a:close/>
                </a:path>
              </a:pathLst>
            </a:custGeom>
            <a:solidFill>
              <a:srgbClr val="7B2FBE">
                <a:alpha val="1176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109851" cy="1681226"/>
            </a:xfrm>
            <a:custGeom>
              <a:avLst/>
              <a:gdLst/>
              <a:ahLst/>
              <a:cxnLst/>
              <a:rect l="l" t="t" r="r" b="b"/>
              <a:pathLst>
                <a:path w="2109851" h="1681226">
                  <a:moveTo>
                    <a:pt x="504825" y="0"/>
                  </a:moveTo>
                  <a:cubicBezTo>
                    <a:pt x="399415" y="0"/>
                    <a:pt x="295021" y="10287"/>
                    <a:pt x="191770" y="30861"/>
                  </a:cubicBezTo>
                  <a:cubicBezTo>
                    <a:pt x="126619" y="43815"/>
                    <a:pt x="62738" y="60706"/>
                    <a:pt x="0" y="81407"/>
                  </a:cubicBezTo>
                  <a:lnTo>
                    <a:pt x="0" y="91440"/>
                  </a:lnTo>
                  <a:cubicBezTo>
                    <a:pt x="63246" y="70358"/>
                    <a:pt x="127889" y="53213"/>
                    <a:pt x="193548" y="40132"/>
                  </a:cubicBezTo>
                  <a:cubicBezTo>
                    <a:pt x="296291" y="19685"/>
                    <a:pt x="400050" y="9525"/>
                    <a:pt x="504825" y="9525"/>
                  </a:cubicBezTo>
                  <a:cubicBezTo>
                    <a:pt x="609600" y="9525"/>
                    <a:pt x="713359" y="19685"/>
                    <a:pt x="816102" y="40132"/>
                  </a:cubicBezTo>
                  <a:cubicBezTo>
                    <a:pt x="918845" y="60579"/>
                    <a:pt x="1018667" y="90805"/>
                    <a:pt x="1115441" y="130937"/>
                  </a:cubicBezTo>
                  <a:cubicBezTo>
                    <a:pt x="1212215" y="171069"/>
                    <a:pt x="1304163" y="220218"/>
                    <a:pt x="1391285" y="278384"/>
                  </a:cubicBezTo>
                  <a:cubicBezTo>
                    <a:pt x="1478407" y="336550"/>
                    <a:pt x="1558925" y="402717"/>
                    <a:pt x="1633093" y="476758"/>
                  </a:cubicBezTo>
                  <a:cubicBezTo>
                    <a:pt x="1707261" y="550799"/>
                    <a:pt x="1773301" y="631444"/>
                    <a:pt x="1831467" y="718566"/>
                  </a:cubicBezTo>
                  <a:cubicBezTo>
                    <a:pt x="1889633" y="805688"/>
                    <a:pt x="1938782" y="897636"/>
                    <a:pt x="1978914" y="994410"/>
                  </a:cubicBezTo>
                  <a:cubicBezTo>
                    <a:pt x="2019046" y="1091184"/>
                    <a:pt x="2049272" y="1191006"/>
                    <a:pt x="2069719" y="1293749"/>
                  </a:cubicBezTo>
                  <a:cubicBezTo>
                    <a:pt x="2090166" y="1396492"/>
                    <a:pt x="2100326" y="1500251"/>
                    <a:pt x="2100326" y="1605026"/>
                  </a:cubicBezTo>
                  <a:cubicBezTo>
                    <a:pt x="2100326" y="1630426"/>
                    <a:pt x="2099691" y="1655826"/>
                    <a:pt x="2098548" y="1681226"/>
                  </a:cubicBezTo>
                  <a:lnTo>
                    <a:pt x="2108073" y="1681226"/>
                  </a:lnTo>
                  <a:cubicBezTo>
                    <a:pt x="2109216" y="1655826"/>
                    <a:pt x="2109851" y="1630426"/>
                    <a:pt x="2109851" y="1605026"/>
                  </a:cubicBezTo>
                  <a:cubicBezTo>
                    <a:pt x="2109851" y="1499616"/>
                    <a:pt x="2099564" y="1395222"/>
                    <a:pt x="2078990" y="1291971"/>
                  </a:cubicBezTo>
                  <a:cubicBezTo>
                    <a:pt x="2058416" y="1188720"/>
                    <a:pt x="2027936" y="1088263"/>
                    <a:pt x="1987677" y="990854"/>
                  </a:cubicBezTo>
                  <a:cubicBezTo>
                    <a:pt x="1947418" y="893445"/>
                    <a:pt x="1897888" y="800989"/>
                    <a:pt x="1839341" y="713359"/>
                  </a:cubicBezTo>
                  <a:cubicBezTo>
                    <a:pt x="1780794" y="625729"/>
                    <a:pt x="1714246" y="544703"/>
                    <a:pt x="1639697" y="470154"/>
                  </a:cubicBezTo>
                  <a:cubicBezTo>
                    <a:pt x="1565148" y="395605"/>
                    <a:pt x="1484122" y="329057"/>
                    <a:pt x="1396492" y="270510"/>
                  </a:cubicBezTo>
                  <a:cubicBezTo>
                    <a:pt x="1308862" y="211963"/>
                    <a:pt x="1216406" y="162560"/>
                    <a:pt x="1118997" y="122174"/>
                  </a:cubicBezTo>
                  <a:cubicBezTo>
                    <a:pt x="1021715" y="81788"/>
                    <a:pt x="921258" y="51435"/>
                    <a:pt x="817880" y="30861"/>
                  </a:cubicBezTo>
                  <a:cubicBezTo>
                    <a:pt x="714502" y="10287"/>
                    <a:pt x="610235" y="0"/>
                    <a:pt x="504825" y="0"/>
                  </a:cubicBezTo>
                  <a:close/>
                </a:path>
              </a:pathLst>
            </a:custGeom>
            <a:solidFill>
              <a:srgbClr val="7B2FBE">
                <a:alpha val="1568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49469" y="-127006"/>
            <a:ext cx="16265519" cy="4835519"/>
            <a:chOff x="0" y="0"/>
            <a:chExt cx="8132762" cy="2417762"/>
          </a:xfrm>
        </p:grpSpPr>
        <p:sp>
          <p:nvSpPr>
            <p:cNvPr id="6" name="Freeform 6"/>
            <p:cNvSpPr/>
            <p:nvPr/>
          </p:nvSpPr>
          <p:spPr>
            <a:xfrm>
              <a:off x="5783326" y="6350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58039" y="0"/>
                  </a:moveTo>
                  <a:cubicBezTo>
                    <a:pt x="49530" y="33147"/>
                    <a:pt x="41783" y="66675"/>
                    <a:pt x="35179" y="100457"/>
                  </a:cubicBezTo>
                  <a:cubicBezTo>
                    <a:pt x="11811" y="218186"/>
                    <a:pt x="0" y="337185"/>
                    <a:pt x="0" y="457200"/>
                  </a:cubicBezTo>
                  <a:cubicBezTo>
                    <a:pt x="0" y="577215"/>
                    <a:pt x="11684" y="696214"/>
                    <a:pt x="35179" y="813943"/>
                  </a:cubicBezTo>
                  <a:cubicBezTo>
                    <a:pt x="58674" y="931672"/>
                    <a:pt x="93345" y="1046099"/>
                    <a:pt x="139192" y="1156970"/>
                  </a:cubicBezTo>
                  <a:cubicBezTo>
                    <a:pt x="185039" y="1267841"/>
                    <a:pt x="241427" y="1373251"/>
                    <a:pt x="308229" y="1473200"/>
                  </a:cubicBezTo>
                  <a:cubicBezTo>
                    <a:pt x="375031" y="1573149"/>
                    <a:pt x="450723" y="1665478"/>
                    <a:pt x="535686" y="1750314"/>
                  </a:cubicBezTo>
                  <a:cubicBezTo>
                    <a:pt x="620649" y="1835150"/>
                    <a:pt x="712978" y="1911096"/>
                    <a:pt x="812800" y="1977771"/>
                  </a:cubicBezTo>
                  <a:cubicBezTo>
                    <a:pt x="912622" y="2044446"/>
                    <a:pt x="1018032" y="2100834"/>
                    <a:pt x="1129030" y="2146808"/>
                  </a:cubicBezTo>
                  <a:cubicBezTo>
                    <a:pt x="1240028" y="2192782"/>
                    <a:pt x="1354328" y="2227453"/>
                    <a:pt x="1472057" y="2250821"/>
                  </a:cubicBezTo>
                  <a:cubicBezTo>
                    <a:pt x="1589786" y="2274189"/>
                    <a:pt x="1708658" y="2286000"/>
                    <a:pt x="1828800" y="2286000"/>
                  </a:cubicBezTo>
                  <a:cubicBezTo>
                    <a:pt x="1948942" y="2286000"/>
                    <a:pt x="2067814" y="2274316"/>
                    <a:pt x="2185543" y="2250821"/>
                  </a:cubicBezTo>
                  <a:cubicBezTo>
                    <a:pt x="2219325" y="2244090"/>
                    <a:pt x="2252726" y="2236470"/>
                    <a:pt x="2286000" y="2227961"/>
                  </a:cubicBezTo>
                  <a:lnTo>
                    <a:pt x="2286000" y="0"/>
                  </a:lnTo>
                  <a:close/>
                </a:path>
              </a:pathLst>
            </a:custGeom>
            <a:solidFill>
              <a:srgbClr val="00D4FF">
                <a:alpha val="1176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5778500" y="63500"/>
              <a:ext cx="2290699" cy="2290699"/>
            </a:xfrm>
            <a:custGeom>
              <a:avLst/>
              <a:gdLst/>
              <a:ahLst/>
              <a:cxnLst/>
              <a:rect l="l" t="t" r="r" b="b"/>
              <a:pathLst>
                <a:path w="2290699" h="2290699">
                  <a:moveTo>
                    <a:pt x="57912" y="0"/>
                  </a:moveTo>
                  <a:cubicBezTo>
                    <a:pt x="49403" y="32893"/>
                    <a:pt x="41910" y="66040"/>
                    <a:pt x="35179" y="99441"/>
                  </a:cubicBezTo>
                  <a:cubicBezTo>
                    <a:pt x="11684" y="217551"/>
                    <a:pt x="0" y="336804"/>
                    <a:pt x="0" y="457200"/>
                  </a:cubicBezTo>
                  <a:cubicBezTo>
                    <a:pt x="0" y="577596"/>
                    <a:pt x="11684" y="696849"/>
                    <a:pt x="35179" y="814959"/>
                  </a:cubicBezTo>
                  <a:cubicBezTo>
                    <a:pt x="58674" y="933069"/>
                    <a:pt x="93472" y="1047750"/>
                    <a:pt x="139573" y="1158875"/>
                  </a:cubicBezTo>
                  <a:cubicBezTo>
                    <a:pt x="185674" y="1270000"/>
                    <a:pt x="242189" y="1375791"/>
                    <a:pt x="308991" y="1475867"/>
                  </a:cubicBezTo>
                  <a:cubicBezTo>
                    <a:pt x="375793" y="1575943"/>
                    <a:pt x="451866" y="1668526"/>
                    <a:pt x="536956" y="1753743"/>
                  </a:cubicBezTo>
                  <a:cubicBezTo>
                    <a:pt x="622046" y="1838960"/>
                    <a:pt x="714756" y="1914906"/>
                    <a:pt x="814832" y="1981708"/>
                  </a:cubicBezTo>
                  <a:cubicBezTo>
                    <a:pt x="914908" y="2048637"/>
                    <a:pt x="1020572" y="2105025"/>
                    <a:pt x="1131824" y="2151126"/>
                  </a:cubicBezTo>
                  <a:cubicBezTo>
                    <a:pt x="1243076" y="2197227"/>
                    <a:pt x="1357757" y="2232025"/>
                    <a:pt x="1475740" y="2255520"/>
                  </a:cubicBezTo>
                  <a:cubicBezTo>
                    <a:pt x="1593723" y="2279015"/>
                    <a:pt x="1713103" y="2290699"/>
                    <a:pt x="1833499" y="2290699"/>
                  </a:cubicBezTo>
                  <a:cubicBezTo>
                    <a:pt x="1953895" y="2290699"/>
                    <a:pt x="2073148" y="2279015"/>
                    <a:pt x="2191258" y="2255520"/>
                  </a:cubicBezTo>
                  <a:cubicBezTo>
                    <a:pt x="2224659" y="2248916"/>
                    <a:pt x="2257806" y="2241296"/>
                    <a:pt x="2290699" y="2232787"/>
                  </a:cubicBezTo>
                  <a:lnTo>
                    <a:pt x="2290699" y="2223008"/>
                  </a:lnTo>
                  <a:cubicBezTo>
                    <a:pt x="2257171" y="2231644"/>
                    <a:pt x="2223389" y="2239391"/>
                    <a:pt x="2189353" y="2246122"/>
                  </a:cubicBezTo>
                  <a:cubicBezTo>
                    <a:pt x="2071878" y="2269490"/>
                    <a:pt x="1953260" y="2281174"/>
                    <a:pt x="1833499" y="2281174"/>
                  </a:cubicBezTo>
                  <a:cubicBezTo>
                    <a:pt x="1713738" y="2281174"/>
                    <a:pt x="1595120" y="2269490"/>
                    <a:pt x="1477645" y="2246122"/>
                  </a:cubicBezTo>
                  <a:cubicBezTo>
                    <a:pt x="1360170" y="2222754"/>
                    <a:pt x="1246124" y="2188210"/>
                    <a:pt x="1135507" y="2142363"/>
                  </a:cubicBezTo>
                  <a:cubicBezTo>
                    <a:pt x="1024890" y="2096516"/>
                    <a:pt x="919734" y="2040382"/>
                    <a:pt x="820166" y="1973834"/>
                  </a:cubicBezTo>
                  <a:cubicBezTo>
                    <a:pt x="720598" y="1907286"/>
                    <a:pt x="628396" y="1831721"/>
                    <a:pt x="543814" y="1747012"/>
                  </a:cubicBezTo>
                  <a:cubicBezTo>
                    <a:pt x="459105" y="1662303"/>
                    <a:pt x="383540" y="1570228"/>
                    <a:pt x="316992" y="1470660"/>
                  </a:cubicBezTo>
                  <a:cubicBezTo>
                    <a:pt x="250444" y="1371092"/>
                    <a:pt x="194310" y="1265936"/>
                    <a:pt x="148463" y="1155319"/>
                  </a:cubicBezTo>
                  <a:cubicBezTo>
                    <a:pt x="102616" y="1044702"/>
                    <a:pt x="68072" y="930656"/>
                    <a:pt x="44704" y="813181"/>
                  </a:cubicBezTo>
                  <a:cubicBezTo>
                    <a:pt x="21336" y="695706"/>
                    <a:pt x="9525" y="576961"/>
                    <a:pt x="9525" y="457200"/>
                  </a:cubicBezTo>
                  <a:cubicBezTo>
                    <a:pt x="9525" y="337439"/>
                    <a:pt x="21209" y="218821"/>
                    <a:pt x="44577" y="101346"/>
                  </a:cubicBezTo>
                  <a:cubicBezTo>
                    <a:pt x="51308" y="67310"/>
                    <a:pt x="59055" y="33528"/>
                    <a:pt x="67691" y="0"/>
                  </a:cubicBezTo>
                  <a:close/>
                </a:path>
              </a:pathLst>
            </a:custGeom>
            <a:solidFill>
              <a:srgbClr val="00D4FF">
                <a:alpha val="15686"/>
              </a:srgbClr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8326" y="2159000"/>
              <a:ext cx="6858000" cy="28575"/>
            </a:xfrm>
            <a:custGeom>
              <a:avLst/>
              <a:gdLst/>
              <a:ahLst/>
              <a:cxnLst/>
              <a:rect l="l" t="t" r="r" b="b"/>
              <a:pathLst>
                <a:path w="6858000" h="28575">
                  <a:moveTo>
                    <a:pt x="0" y="0"/>
                  </a:moveTo>
                  <a:lnTo>
                    <a:pt x="6858000" y="0"/>
                  </a:lnTo>
                  <a:lnTo>
                    <a:pt x="68580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0D4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500" y="2154174"/>
              <a:ext cx="6867652" cy="38227"/>
            </a:xfrm>
            <a:custGeom>
              <a:avLst/>
              <a:gdLst/>
              <a:ahLst/>
              <a:cxnLst/>
              <a:rect l="l" t="t" r="r" b="b"/>
              <a:pathLst>
                <a:path w="6867652" h="38227">
                  <a:moveTo>
                    <a:pt x="4826" y="0"/>
                  </a:moveTo>
                  <a:lnTo>
                    <a:pt x="6862826" y="0"/>
                  </a:lnTo>
                  <a:lnTo>
                    <a:pt x="6867652" y="0"/>
                  </a:lnTo>
                  <a:lnTo>
                    <a:pt x="6867652" y="4826"/>
                  </a:lnTo>
                  <a:lnTo>
                    <a:pt x="6867652" y="33401"/>
                  </a:lnTo>
                  <a:lnTo>
                    <a:pt x="6867652" y="38227"/>
                  </a:lnTo>
                  <a:lnTo>
                    <a:pt x="6862826" y="38227"/>
                  </a:lnTo>
                  <a:lnTo>
                    <a:pt x="4826" y="38227"/>
                  </a:lnTo>
                  <a:lnTo>
                    <a:pt x="0" y="38227"/>
                  </a:lnTo>
                  <a:lnTo>
                    <a:pt x="0" y="33401"/>
                  </a:lnTo>
                  <a:lnTo>
                    <a:pt x="0" y="4826"/>
                  </a:lnTo>
                  <a:lnTo>
                    <a:pt x="0" y="0"/>
                  </a:lnTo>
                  <a:lnTo>
                    <a:pt x="4826" y="0"/>
                  </a:ln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33401"/>
                  </a:lnTo>
                  <a:lnTo>
                    <a:pt x="4826" y="33401"/>
                  </a:lnTo>
                  <a:lnTo>
                    <a:pt x="4826" y="28575"/>
                  </a:lnTo>
                  <a:lnTo>
                    <a:pt x="6862826" y="28575"/>
                  </a:lnTo>
                  <a:lnTo>
                    <a:pt x="6862826" y="33401"/>
                  </a:lnTo>
                  <a:lnTo>
                    <a:pt x="6858000" y="33401"/>
                  </a:lnTo>
                  <a:lnTo>
                    <a:pt x="6858000" y="4826"/>
                  </a:lnTo>
                  <a:lnTo>
                    <a:pt x="6862826" y="4826"/>
                  </a:lnTo>
                  <a:lnTo>
                    <a:pt x="6862826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00D4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143250" y="1435799"/>
            <a:ext cx="11962962" cy="137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PRESIDENCY UNIVERSITY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98842" y="3333655"/>
            <a:ext cx="5899442" cy="146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8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BANGALORE </a:t>
            </a:r>
          </a:p>
          <a:p>
            <a:pPr algn="ctr">
              <a:lnSpc>
                <a:spcPts val="7000"/>
              </a:lnSpc>
            </a:pPr>
            <a:r>
              <a:rPr lang="en-US" sz="2800">
                <a:solidFill>
                  <a:srgbClr val="00D4FF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00">
                <a:solidFill>
                  <a:srgbClr val="00D4FF"/>
                </a:solidFill>
                <a:latin typeface="Roboto"/>
                <a:ea typeface="Roboto"/>
                <a:cs typeface="Roboto"/>
                <a:sym typeface="Roboto"/>
              </a:rPr>
              <a:t>MEMBERS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9778" y="6551124"/>
            <a:ext cx="7488524" cy="2177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ARAVIND NAGARAJ KAVADIKER </a:t>
            </a:r>
          </a:p>
          <a:p>
            <a:pPr algn="l">
              <a:lnSpc>
                <a:spcPts val="4348"/>
              </a:lnSpc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ANKIT A HEGDE                               </a:t>
            </a:r>
          </a:p>
          <a:p>
            <a:pPr algn="l">
              <a:lnSpc>
                <a:spcPts val="4348"/>
              </a:lnSpc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INDUSHREE S</a:t>
            </a:r>
            <a:r>
              <a:rPr lang="en-US" sz="3600">
                <a:solidFill>
                  <a:srgbClr val="00D4FF"/>
                </a:solidFill>
                <a:latin typeface="Roboto"/>
                <a:ea typeface="Roboto"/>
                <a:cs typeface="Roboto"/>
                <a:sym typeface="Roboto"/>
              </a:rPr>
              <a:t>                                   </a:t>
            </a:r>
          </a:p>
          <a:p>
            <a:pPr algn="l">
              <a:lnSpc>
                <a:spcPts val="4348"/>
              </a:lnSpc>
            </a:pPr>
            <a:r>
              <a:rPr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 GOUTAM GANESH BHAT            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8302" y="6484449"/>
            <a:ext cx="7488524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34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20241CSD0117</a:t>
            </a:r>
          </a:p>
          <a:p>
            <a:pPr algn="ctr">
              <a:lnSpc>
                <a:spcPts val="4139"/>
              </a:lnSpc>
            </a:pPr>
            <a:r>
              <a:rPr lang="en-US" sz="34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20241ISE0115</a:t>
            </a:r>
          </a:p>
          <a:p>
            <a:pPr algn="ctr">
              <a:lnSpc>
                <a:spcPts val="4139"/>
              </a:lnSpc>
            </a:pPr>
            <a:r>
              <a:rPr lang="en-US" sz="34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20241ISE0157</a:t>
            </a:r>
          </a:p>
          <a:p>
            <a:pPr algn="ctr">
              <a:lnSpc>
                <a:spcPts val="4139"/>
              </a:lnSpc>
              <a:spcBef>
                <a:spcPct val="0"/>
              </a:spcBef>
            </a:pPr>
            <a:r>
              <a:rPr lang="en-US" sz="34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20241IST0116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9647" y="-2749553"/>
            <a:ext cx="7327897" cy="7327897"/>
            <a:chOff x="0" y="0"/>
            <a:chExt cx="9770529" cy="9770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70491" cy="9770491"/>
            </a:xfrm>
            <a:custGeom>
              <a:avLst/>
              <a:gdLst/>
              <a:ahLst/>
              <a:cxnLst/>
              <a:rect l="l" t="t" r="r" b="b"/>
              <a:pathLst>
                <a:path w="9770491" h="9770491">
                  <a:moveTo>
                    <a:pt x="0" y="4885309"/>
                  </a:moveTo>
                  <a:cubicBezTo>
                    <a:pt x="0" y="2187194"/>
                    <a:pt x="2187194" y="0"/>
                    <a:pt x="4885309" y="0"/>
                  </a:cubicBezTo>
                  <a:cubicBezTo>
                    <a:pt x="7583425" y="0"/>
                    <a:pt x="9770491" y="2187194"/>
                    <a:pt x="9770491" y="4885309"/>
                  </a:cubicBezTo>
                  <a:cubicBezTo>
                    <a:pt x="9770491" y="7583425"/>
                    <a:pt x="7583297" y="9770491"/>
                    <a:pt x="4885309" y="9770491"/>
                  </a:cubicBezTo>
                  <a:cubicBezTo>
                    <a:pt x="2187322" y="9770491"/>
                    <a:pt x="0" y="7583297"/>
                    <a:pt x="0" y="4885309"/>
                  </a:cubicBezTo>
                  <a:close/>
                </a:path>
              </a:pathLst>
            </a:custGeom>
            <a:solidFill>
              <a:srgbClr val="00D4FF">
                <a:alpha val="1176"/>
              </a:srgbClr>
            </a:solid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4989807" y="-1469393"/>
            <a:ext cx="4584697" cy="4584697"/>
            <a:chOff x="0" y="0"/>
            <a:chExt cx="6112929" cy="6112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12891" cy="6112891"/>
            </a:xfrm>
            <a:custGeom>
              <a:avLst/>
              <a:gdLst/>
              <a:ahLst/>
              <a:cxnLst/>
              <a:rect l="l" t="t" r="r" b="b"/>
              <a:pathLst>
                <a:path w="6112891" h="6112891">
                  <a:moveTo>
                    <a:pt x="0" y="3056509"/>
                  </a:moveTo>
                  <a:cubicBezTo>
                    <a:pt x="0" y="1368425"/>
                    <a:pt x="1368425" y="0"/>
                    <a:pt x="3056509" y="0"/>
                  </a:cubicBezTo>
                  <a:cubicBezTo>
                    <a:pt x="4744593" y="0"/>
                    <a:pt x="6112891" y="1368425"/>
                    <a:pt x="6112891" y="3056509"/>
                  </a:cubicBezTo>
                  <a:cubicBezTo>
                    <a:pt x="6112891" y="4744593"/>
                    <a:pt x="4744466" y="6112891"/>
                    <a:pt x="3056509" y="6112891"/>
                  </a:cubicBezTo>
                  <a:cubicBezTo>
                    <a:pt x="1368552" y="6112891"/>
                    <a:pt x="0" y="4744466"/>
                    <a:pt x="0" y="3056509"/>
                  </a:cubicBezTo>
                  <a:close/>
                </a:path>
              </a:pathLst>
            </a:custGeom>
            <a:solidFill>
              <a:srgbClr val="7B2FBE">
                <a:alpha val="3137"/>
              </a:srgbClr>
            </a:solidFill>
            <a:ln w="127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-2200913" y="6943087"/>
            <a:ext cx="6413497" cy="6413497"/>
            <a:chOff x="0" y="0"/>
            <a:chExt cx="8551329" cy="85513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51291" cy="8551291"/>
            </a:xfrm>
            <a:custGeom>
              <a:avLst/>
              <a:gdLst/>
              <a:ahLst/>
              <a:cxnLst/>
              <a:rect l="l" t="t" r="r" b="b"/>
              <a:pathLst>
                <a:path w="8551291" h="8551291">
                  <a:moveTo>
                    <a:pt x="0" y="4275709"/>
                  </a:moveTo>
                  <a:cubicBezTo>
                    <a:pt x="0" y="1914271"/>
                    <a:pt x="1914271" y="0"/>
                    <a:pt x="4275709" y="0"/>
                  </a:cubicBezTo>
                  <a:cubicBezTo>
                    <a:pt x="6637148" y="0"/>
                    <a:pt x="8551291" y="1914271"/>
                    <a:pt x="8551291" y="4275709"/>
                  </a:cubicBezTo>
                  <a:cubicBezTo>
                    <a:pt x="8551291" y="6637148"/>
                    <a:pt x="6637020" y="8551291"/>
                    <a:pt x="4275709" y="8551291"/>
                  </a:cubicBezTo>
                  <a:cubicBezTo>
                    <a:pt x="1914399" y="8551291"/>
                    <a:pt x="0" y="6637020"/>
                    <a:pt x="0" y="4275709"/>
                  </a:cubicBezTo>
                  <a:close/>
                </a:path>
              </a:pathLst>
            </a:custGeom>
            <a:solidFill>
              <a:srgbClr val="7B2FBE">
                <a:alpha val="1176"/>
              </a:srgbClr>
            </a:solidFill>
            <a:ln w="127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84583" y="5199383"/>
            <a:ext cx="10266683" cy="98555"/>
            <a:chOff x="0" y="0"/>
            <a:chExt cx="13688911" cy="1314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88949" cy="131445"/>
            </a:xfrm>
            <a:custGeom>
              <a:avLst/>
              <a:gdLst/>
              <a:ahLst/>
              <a:cxnLst/>
              <a:rect l="l" t="t" r="r" b="b"/>
              <a:pathLst>
                <a:path w="13688949" h="131445">
                  <a:moveTo>
                    <a:pt x="0" y="0"/>
                  </a:moveTo>
                  <a:lnTo>
                    <a:pt x="13688949" y="0"/>
                  </a:lnTo>
                  <a:lnTo>
                    <a:pt x="13688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0D4FF"/>
            </a:solidFill>
            <a:ln w="254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14400" y="457200"/>
            <a:ext cx="1645920" cy="1645920"/>
            <a:chOff x="0" y="0"/>
            <a:chExt cx="2194560" cy="219456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14400" y="1828800"/>
            <a:ext cx="16459200" cy="1828800"/>
            <a:chOff x="0" y="0"/>
            <a:chExt cx="21945600" cy="2438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2438400"/>
            </a:xfrm>
            <a:custGeom>
              <a:avLst/>
              <a:gdLst/>
              <a:ahLst/>
              <a:cxnLst/>
              <a:rect l="l" t="t" r="r" b="b"/>
              <a:pathLst>
                <a:path w="21945600" h="24384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42875"/>
              <a:ext cx="21945600" cy="2581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Medical Report Generator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3474720"/>
            <a:ext cx="16459200" cy="1280160"/>
            <a:chOff x="0" y="0"/>
            <a:chExt cx="21945600" cy="1706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21945600" cy="1821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00D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X-Ray Images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5669280"/>
            <a:ext cx="16459200" cy="914400"/>
            <a:chOff x="0" y="0"/>
            <a:chExt cx="219456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spc="199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 • Transfer Learning • Multi-Model Comparison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95247" y="2736847"/>
            <a:ext cx="4584697" cy="4584697"/>
            <a:chOff x="0" y="0"/>
            <a:chExt cx="6112929" cy="61129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112891" cy="6112891"/>
            </a:xfrm>
            <a:custGeom>
              <a:avLst/>
              <a:gdLst/>
              <a:ahLst/>
              <a:cxnLst/>
              <a:rect l="l" t="t" r="r" b="b"/>
              <a:pathLst>
                <a:path w="6112891" h="6112891">
                  <a:moveTo>
                    <a:pt x="0" y="0"/>
                  </a:moveTo>
                  <a:lnTo>
                    <a:pt x="6112891" y="0"/>
                  </a:lnTo>
                  <a:lnTo>
                    <a:pt x="6112891" y="6112891"/>
                  </a:lnTo>
                  <a:lnTo>
                    <a:pt x="0" y="6112891"/>
                  </a:lnTo>
                  <a:close/>
                </a:path>
              </a:pathLst>
            </a:custGeom>
            <a:solidFill>
              <a:srgbClr val="132337"/>
            </a:solid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3807440" y="3017520"/>
            <a:ext cx="2560320" cy="2560320"/>
            <a:chOff x="0" y="0"/>
            <a:chExt cx="3413760" cy="341376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3413760" cy="3413760"/>
            </a:xfrm>
            <a:custGeom>
              <a:avLst/>
              <a:gdLst/>
              <a:ahLst/>
              <a:cxnLst/>
              <a:rect l="l" t="t" r="r" b="b"/>
              <a:pathLst>
                <a:path w="3413760" h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2801600" y="5577840"/>
            <a:ext cx="4572000" cy="1463040"/>
            <a:chOff x="0" y="0"/>
            <a:chExt cx="6096000" cy="1950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0" cy="1950720"/>
            </a:xfrm>
            <a:custGeom>
              <a:avLst/>
              <a:gdLst/>
              <a:ahLst/>
              <a:cxnLst/>
              <a:rect l="l" t="t" r="r" b="b"/>
              <a:pathLst>
                <a:path w="6096000" h="1950720">
                  <a:moveTo>
                    <a:pt x="0" y="0"/>
                  </a:moveTo>
                  <a:lnTo>
                    <a:pt x="6096000" y="0"/>
                  </a:lnTo>
                  <a:lnTo>
                    <a:pt x="60960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6096000" cy="1998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COVID-19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8047" y="7857487"/>
            <a:ext cx="5133337" cy="1841497"/>
            <a:chOff x="0" y="0"/>
            <a:chExt cx="6844449" cy="245532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44411" cy="2455291"/>
            </a:xfrm>
            <a:custGeom>
              <a:avLst/>
              <a:gdLst/>
              <a:ahLst/>
              <a:cxnLst/>
              <a:rect l="l" t="t" r="r" b="b"/>
              <a:pathLst>
                <a:path w="6844411" h="2455291">
                  <a:moveTo>
                    <a:pt x="0" y="0"/>
                  </a:moveTo>
                  <a:lnTo>
                    <a:pt x="6844411" y="0"/>
                  </a:lnTo>
                  <a:lnTo>
                    <a:pt x="684441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1A2F47"/>
            </a:solid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14400" y="7955280"/>
            <a:ext cx="5120640" cy="822960"/>
            <a:chOff x="0" y="0"/>
            <a:chExt cx="682752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27520" cy="1097280"/>
            </a:xfrm>
            <a:custGeom>
              <a:avLst/>
              <a:gdLst/>
              <a:ahLst/>
              <a:cxnLst/>
              <a:rect l="l" t="t" r="r" b="b"/>
              <a:pathLst>
                <a:path w="6827520" h="109728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682752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Models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8686800"/>
            <a:ext cx="5120640" cy="548640"/>
            <a:chOff x="0" y="0"/>
            <a:chExt cx="68275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27520" cy="731520"/>
            </a:xfrm>
            <a:custGeom>
              <a:avLst/>
              <a:gdLst/>
              <a:ahLst/>
              <a:cxnLst/>
              <a:rect l="l" t="t" r="r" b="b"/>
              <a:pathLst>
                <a:path w="6827520" h="731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77327" y="7857487"/>
            <a:ext cx="5133337" cy="1841497"/>
            <a:chOff x="0" y="0"/>
            <a:chExt cx="6844449" cy="245532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44411" cy="2455291"/>
            </a:xfrm>
            <a:custGeom>
              <a:avLst/>
              <a:gdLst/>
              <a:ahLst/>
              <a:cxnLst/>
              <a:rect l="l" t="t" r="r" b="b"/>
              <a:pathLst>
                <a:path w="6844411" h="2455291">
                  <a:moveTo>
                    <a:pt x="0" y="0"/>
                  </a:moveTo>
                  <a:lnTo>
                    <a:pt x="6844411" y="0"/>
                  </a:lnTo>
                  <a:lnTo>
                    <a:pt x="684441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1A2F47"/>
            </a:solid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583680" y="7955280"/>
            <a:ext cx="5120640" cy="822960"/>
            <a:chOff x="0" y="0"/>
            <a:chExt cx="682752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827520" cy="1097280"/>
            </a:xfrm>
            <a:custGeom>
              <a:avLst/>
              <a:gdLst/>
              <a:ahLst/>
              <a:cxnLst/>
              <a:rect l="l" t="t" r="r" b="b"/>
              <a:pathLst>
                <a:path w="6827520" h="109728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682752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Classes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83680" y="8686800"/>
            <a:ext cx="5120640" cy="548640"/>
            <a:chOff x="0" y="0"/>
            <a:chExt cx="682752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27520" cy="731520"/>
            </a:xfrm>
            <a:custGeom>
              <a:avLst/>
              <a:gdLst/>
              <a:ahLst/>
              <a:cxnLst/>
              <a:rect l="l" t="t" r="r" b="b"/>
              <a:pathLst>
                <a:path w="6827520" h="731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246607" y="7857487"/>
            <a:ext cx="5133337" cy="1841497"/>
            <a:chOff x="0" y="0"/>
            <a:chExt cx="6844449" cy="24553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844411" cy="2455291"/>
            </a:xfrm>
            <a:custGeom>
              <a:avLst/>
              <a:gdLst/>
              <a:ahLst/>
              <a:cxnLst/>
              <a:rect l="l" t="t" r="r" b="b"/>
              <a:pathLst>
                <a:path w="6844411" h="2455291">
                  <a:moveTo>
                    <a:pt x="0" y="0"/>
                  </a:moveTo>
                  <a:lnTo>
                    <a:pt x="6844411" y="0"/>
                  </a:lnTo>
                  <a:lnTo>
                    <a:pt x="684441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1A2F47"/>
            </a:solidFill>
            <a:ln w="127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252960" y="7955280"/>
            <a:ext cx="5120640" cy="822960"/>
            <a:chOff x="0" y="0"/>
            <a:chExt cx="682752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27520" cy="1097280"/>
            </a:xfrm>
            <a:custGeom>
              <a:avLst/>
              <a:gdLst/>
              <a:ahLst/>
              <a:cxnLst/>
              <a:rect l="l" t="t" r="r" b="b"/>
              <a:pathLst>
                <a:path w="6827520" h="109728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240" b="-7124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682752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252960" y="8686800"/>
            <a:ext cx="5120640" cy="548640"/>
            <a:chOff x="0" y="0"/>
            <a:chExt cx="682752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827520" cy="731520"/>
            </a:xfrm>
            <a:custGeom>
              <a:avLst/>
              <a:gdLst/>
              <a:ahLst/>
              <a:cxnLst/>
              <a:rect l="l" t="t" r="r" b="b"/>
              <a:pathLst>
                <a:path w="6827520" h="731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Accuracy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472309"/>
            </a:xfrm>
            <a:custGeom>
              <a:avLst/>
              <a:gdLst/>
              <a:ahLst/>
              <a:cxnLst/>
              <a:rect l="l" t="t" r="r" b="b"/>
              <a:pathLst>
                <a:path w="24417910" h="2472309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132337"/>
            </a:solidFill>
            <a:ln w="25400" cap="sq">
              <a:solidFill>
                <a:srgbClr val="132337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48640" y="274320"/>
            <a:ext cx="1188720" cy="1188720"/>
            <a:chOff x="0" y="0"/>
            <a:chExt cx="1584960" cy="158496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584960" cy="1584960"/>
            </a:xfrm>
            <a:custGeom>
              <a:avLst/>
              <a:gdLst/>
              <a:ahLst/>
              <a:cxnLst/>
              <a:rect l="l" t="t" r="r" b="b"/>
              <a:pathLst>
                <a:path w="1584960" h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011680" y="182880"/>
            <a:ext cx="14630400" cy="1463040"/>
            <a:chOff x="0" y="0"/>
            <a:chExt cx="1950720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07200" cy="1950720"/>
            </a:xfrm>
            <a:custGeom>
              <a:avLst/>
              <a:gdLst/>
              <a:ahLst/>
              <a:cxnLst/>
              <a:rect l="l" t="t" r="r" b="b"/>
              <a:pathLst>
                <a:path w="19507200" h="195072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19507200" cy="2065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1520" y="2103120"/>
            <a:ext cx="10058400" cy="822960"/>
            <a:chOff x="0" y="0"/>
            <a:chExt cx="13411200" cy="1097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11200" cy="1097280"/>
            </a:xfrm>
            <a:custGeom>
              <a:avLst/>
              <a:gdLst/>
              <a:ahLst/>
              <a:cxnLst/>
              <a:rect l="l" t="t" r="r" b="b"/>
              <a:pathLst>
                <a:path w="13411200" h="109728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341120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this project?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2926080"/>
            <a:ext cx="9509760" cy="2560320"/>
            <a:chOff x="0" y="0"/>
            <a:chExt cx="12679680" cy="3413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79680" cy="3413760"/>
            </a:xfrm>
            <a:custGeom>
              <a:avLst/>
              <a:gdLst/>
              <a:ahLst/>
              <a:cxnLst/>
              <a:rect l="l" t="t" r="r" b="b"/>
              <a:pathLst>
                <a:path w="12679680" h="3413760">
                  <a:moveTo>
                    <a:pt x="0" y="0"/>
                  </a:moveTo>
                  <a:lnTo>
                    <a:pt x="12679680" y="0"/>
                  </a:lnTo>
                  <a:lnTo>
                    <a:pt x="126796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73" b="-2237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679680" cy="3461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AI-powered system that analyzes chest X-Ray images and automatically generates detailed medical reports, detecting COVID-19, Viral Pneumonia, or Normal conditions using state-of-the-art deep learning models.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1520" y="5943600"/>
            <a:ext cx="640080" cy="640080"/>
            <a:chOff x="0" y="0"/>
            <a:chExt cx="853440" cy="85344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554480" y="5852160"/>
            <a:ext cx="4023360" cy="640080"/>
            <a:chOff x="0" y="0"/>
            <a:chExt cx="5364480" cy="853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64480" cy="853440"/>
            </a:xfrm>
            <a:custGeom>
              <a:avLst/>
              <a:gdLst/>
              <a:ahLst/>
              <a:cxnLst/>
              <a:rect l="l" t="t" r="r" b="b"/>
              <a:pathLst>
                <a:path w="5364480" h="85344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477" b="-7247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Diagnosis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54480" y="6437376"/>
            <a:ext cx="8778240" cy="548640"/>
            <a:chOff x="0" y="0"/>
            <a:chExt cx="1170432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7043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manual radiologist workload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1520" y="7315200"/>
            <a:ext cx="640080" cy="640080"/>
            <a:chOff x="0" y="0"/>
            <a:chExt cx="853440" cy="85344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554480" y="7223760"/>
            <a:ext cx="4023360" cy="640080"/>
            <a:chOff x="0" y="0"/>
            <a:chExt cx="5364480" cy="853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64480" cy="853440"/>
            </a:xfrm>
            <a:custGeom>
              <a:avLst/>
              <a:gdLst/>
              <a:ahLst/>
              <a:cxnLst/>
              <a:rect l="l" t="t" r="r" b="b"/>
              <a:pathLst>
                <a:path w="5364480" h="85344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477" b="-7247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Multi-Model Approach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54480" y="7808976"/>
            <a:ext cx="8778240" cy="548640"/>
            <a:chOff x="0" y="0"/>
            <a:chExt cx="117043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7043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CNN, VGG16, ResNet50, DenseNet121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1520" y="8686800"/>
            <a:ext cx="640080" cy="640080"/>
            <a:chOff x="0" y="0"/>
            <a:chExt cx="853440" cy="85344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554480" y="8595360"/>
            <a:ext cx="4023360" cy="640080"/>
            <a:chOff x="0" y="0"/>
            <a:chExt cx="5364480" cy="8534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64480" cy="853440"/>
            </a:xfrm>
            <a:custGeom>
              <a:avLst/>
              <a:gdLst/>
              <a:ahLst/>
              <a:cxnLst/>
              <a:rect l="l" t="t" r="r" b="b"/>
              <a:pathLst>
                <a:path w="5364480" h="85344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477" b="-7247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AI-Generated Reports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54480" y="9180576"/>
            <a:ext cx="8778240" cy="548640"/>
            <a:chOff x="0" y="0"/>
            <a:chExt cx="117043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17043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 PDF report with symptoms &amp; treatment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691623" y="1998983"/>
            <a:ext cx="5511803" cy="5511803"/>
            <a:chOff x="0" y="0"/>
            <a:chExt cx="7349071" cy="734907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49109" cy="7349109"/>
            </a:xfrm>
            <a:custGeom>
              <a:avLst/>
              <a:gdLst/>
              <a:ahLst/>
              <a:cxnLst/>
              <a:rect l="l" t="t" r="r" b="b"/>
              <a:pathLst>
                <a:path w="7349109" h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00D4FF">
                <a:alpha val="1176"/>
              </a:srgbClr>
            </a:solidFill>
            <a:ln w="25400" cap="sq">
              <a:solidFill>
                <a:srgbClr val="00D4FF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2984480" y="3291840"/>
            <a:ext cx="3108960" cy="3108960"/>
            <a:chOff x="0" y="0"/>
            <a:chExt cx="4145280" cy="4145280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4145280" cy="4145280"/>
            </a:xfrm>
            <a:custGeom>
              <a:avLst/>
              <a:gdLst/>
              <a:ahLst/>
              <a:cxnLst/>
              <a:rect l="l" t="t" r="r" b="b"/>
              <a:pathLst>
                <a:path w="4145280" h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1338560" y="7772400"/>
            <a:ext cx="6400800" cy="731520"/>
            <a:chOff x="0" y="0"/>
            <a:chExt cx="8534400" cy="9753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534400" cy="975360"/>
            </a:xfrm>
            <a:custGeom>
              <a:avLst/>
              <a:gdLst/>
              <a:ahLst/>
              <a:cxnLst/>
              <a:rect l="l" t="t" r="r" b="b"/>
              <a:pathLst>
                <a:path w="8534400" h="97536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853440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Healthcare AI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1480" y="164592"/>
            <a:ext cx="685800" cy="685800"/>
            <a:chOff x="0" y="0"/>
            <a:chExt cx="914400" cy="9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r="-7839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74320" y="25988"/>
            <a:ext cx="685800" cy="797272"/>
            <a:chOff x="0" y="0"/>
            <a:chExt cx="914400" cy="10630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" cy="1063029"/>
            </a:xfrm>
            <a:custGeom>
              <a:avLst/>
              <a:gdLst/>
              <a:ahLst/>
              <a:cxnLst/>
              <a:rect l="l" t="t" r="r" b="b"/>
              <a:pathLst>
                <a:path w="914400" h="1063029">
                  <a:moveTo>
                    <a:pt x="0" y="0"/>
                  </a:moveTo>
                  <a:lnTo>
                    <a:pt x="914400" y="0"/>
                  </a:lnTo>
                  <a:lnTo>
                    <a:pt x="914400" y="1063029"/>
                  </a:lnTo>
                  <a:lnTo>
                    <a:pt x="0" y="10630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8995" r="-88995" b="6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914400" cy="1148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5860" y="246888"/>
            <a:ext cx="10972800" cy="384048"/>
            <a:chOff x="0" y="0"/>
            <a:chExt cx="14630400" cy="5120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65860" y="218313"/>
            <a:ext cx="10972800" cy="412623"/>
            <a:chOff x="0" y="0"/>
            <a:chExt cx="14630400" cy="5501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30400" cy="550164"/>
            </a:xfrm>
            <a:custGeom>
              <a:avLst/>
              <a:gdLst/>
              <a:ahLst/>
              <a:cxnLst/>
              <a:rect l="l" t="t" r="r" b="b"/>
              <a:pathLst>
                <a:path w="14630400" h="550164">
                  <a:moveTo>
                    <a:pt x="0" y="0"/>
                  </a:moveTo>
                  <a:lnTo>
                    <a:pt x="14630400" y="0"/>
                  </a:lnTo>
                  <a:lnTo>
                    <a:pt x="14630400" y="550164"/>
                  </a:lnTo>
                  <a:lnTo>
                    <a:pt x="0" y="5501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8161" b="-4681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630400" cy="5882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00B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TOPIC: AI Medical Report Generator from X-Ray Images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960120"/>
            <a:ext cx="13716000" cy="960120"/>
            <a:chOff x="0" y="0"/>
            <a:chExt cx="1828800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85800" y="867251"/>
            <a:ext cx="13716000" cy="1426507"/>
            <a:chOff x="0" y="0"/>
            <a:chExt cx="18288000" cy="190200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288000" cy="1902009"/>
            </a:xfrm>
            <a:custGeom>
              <a:avLst/>
              <a:gdLst/>
              <a:ahLst/>
              <a:cxnLst/>
              <a:rect l="l" t="t" r="r" b="b"/>
              <a:pathLst>
                <a:path w="18288000" h="1902009">
                  <a:moveTo>
                    <a:pt x="0" y="0"/>
                  </a:moveTo>
                  <a:lnTo>
                    <a:pt x="18288000" y="0"/>
                  </a:lnTo>
                  <a:lnTo>
                    <a:pt x="18288000" y="1902009"/>
                  </a:lnTo>
                  <a:lnTo>
                    <a:pt x="0" y="1902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0442" b="-12425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52400"/>
              <a:ext cx="18288000" cy="20544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518"/>
                </a:lnSpc>
              </a:pPr>
              <a:r>
                <a:rPr lang="en-US" sz="7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Topic Description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9131" y="2503170"/>
            <a:ext cx="16904018" cy="2366010"/>
            <a:chOff x="0" y="0"/>
            <a:chExt cx="22538690" cy="31546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538689" cy="3154680"/>
            </a:xfrm>
            <a:custGeom>
              <a:avLst/>
              <a:gdLst/>
              <a:ahLst/>
              <a:cxnLst/>
              <a:rect l="l" t="t" r="r" b="b"/>
              <a:pathLst>
                <a:path w="22538689" h="3154680">
                  <a:moveTo>
                    <a:pt x="0" y="0"/>
                  </a:moveTo>
                  <a:lnTo>
                    <a:pt x="22538689" y="0"/>
                  </a:lnTo>
                  <a:lnTo>
                    <a:pt x="22538689" y="3154680"/>
                  </a:lnTo>
                  <a:lnTo>
                    <a:pt x="0" y="315468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97280" y="2263140"/>
            <a:ext cx="4114800" cy="480060"/>
            <a:chOff x="0" y="0"/>
            <a:chExt cx="5486400" cy="640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898" b="-116898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165860" y="2687431"/>
            <a:ext cx="4114800" cy="669976"/>
            <a:chOff x="0" y="0"/>
            <a:chExt cx="5486400" cy="8933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0" cy="893301"/>
            </a:xfrm>
            <a:custGeom>
              <a:avLst/>
              <a:gdLst/>
              <a:ahLst/>
              <a:cxnLst/>
              <a:rect l="l" t="t" r="r" b="b"/>
              <a:pathLst>
                <a:path w="5486400" h="893301">
                  <a:moveTo>
                    <a:pt x="0" y="0"/>
                  </a:moveTo>
                  <a:lnTo>
                    <a:pt x="5486400" y="0"/>
                  </a:lnTo>
                  <a:lnTo>
                    <a:pt x="5486400" y="893301"/>
                  </a:lnTo>
                  <a:lnTo>
                    <a:pt x="0" y="893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1179" b="-5816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5486400" cy="959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19"/>
                </a:lnSpc>
              </a:pPr>
              <a:r>
                <a:rPr lang="en-US" sz="33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65860" y="3456622"/>
            <a:ext cx="1600200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builds an end-to-end AI system that accepts chest X-Ray images as input and automatically produces detailed medical diagnostic reports. It leverages deep learning — including custom CNNs and state-of-the-art transfer learning architectures — to classify X-Rays into three categories: COVID-19, Viral Pneumonia, or Normal.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69131" y="5259705"/>
            <a:ext cx="8262938" cy="2090738"/>
            <a:chOff x="0" y="0"/>
            <a:chExt cx="11017250" cy="27876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17250" cy="2787650"/>
            </a:xfrm>
            <a:custGeom>
              <a:avLst/>
              <a:gdLst/>
              <a:ahLst/>
              <a:cxnLst/>
              <a:rect l="l" t="t" r="r" b="b"/>
              <a:pathLst>
                <a:path w="11017250" h="2787650">
                  <a:moveTo>
                    <a:pt x="0" y="0"/>
                  </a:moveTo>
                  <a:lnTo>
                    <a:pt x="11017250" y="0"/>
                  </a:lnTo>
                  <a:lnTo>
                    <a:pt x="1101725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A3050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60120" y="4320540"/>
            <a:ext cx="7680960" cy="548640"/>
            <a:chOff x="0" y="0"/>
            <a:chExt cx="1024128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028700" y="5459730"/>
            <a:ext cx="7680960" cy="693956"/>
            <a:chOff x="0" y="0"/>
            <a:chExt cx="10241280" cy="92527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0" cy="925274"/>
            </a:xfrm>
            <a:custGeom>
              <a:avLst/>
              <a:gdLst/>
              <a:ahLst/>
              <a:cxnLst/>
              <a:rect l="l" t="t" r="r" b="b"/>
              <a:pathLst>
                <a:path w="10241280" h="925274">
                  <a:moveTo>
                    <a:pt x="0" y="0"/>
                  </a:moveTo>
                  <a:lnTo>
                    <a:pt x="10241280" y="0"/>
                  </a:lnTo>
                  <a:lnTo>
                    <a:pt x="10241280" y="925274"/>
                  </a:lnTo>
                  <a:lnTo>
                    <a:pt x="0" y="9252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3564" b="-15777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10241280" cy="100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39"/>
                </a:lnSpc>
              </a:pPr>
              <a:r>
                <a:rPr lang="en-US" sz="34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Problem Statement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3000" y="6293167"/>
            <a:ext cx="749808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X-Ray analysis is time-consuming and requires expert radiologists. AI can assist with rapid preliminary screening.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310211" y="5259705"/>
            <a:ext cx="8262938" cy="2090738"/>
            <a:chOff x="0" y="0"/>
            <a:chExt cx="11017250" cy="27876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17250" cy="2787650"/>
            </a:xfrm>
            <a:custGeom>
              <a:avLst/>
              <a:gdLst/>
              <a:ahLst/>
              <a:cxnLst/>
              <a:rect l="l" t="t" r="r" b="b"/>
              <a:pathLst>
                <a:path w="11017250" h="2787650">
                  <a:moveTo>
                    <a:pt x="0" y="0"/>
                  </a:moveTo>
                  <a:lnTo>
                    <a:pt x="11017250" y="0"/>
                  </a:lnTo>
                  <a:lnTo>
                    <a:pt x="1101725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A3050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01200" y="4320540"/>
            <a:ext cx="7680960" cy="548640"/>
            <a:chOff x="0" y="0"/>
            <a:chExt cx="1024128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601200" y="5459730"/>
            <a:ext cx="7680960" cy="693956"/>
            <a:chOff x="0" y="0"/>
            <a:chExt cx="10241280" cy="9252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241280" cy="925274"/>
            </a:xfrm>
            <a:custGeom>
              <a:avLst/>
              <a:gdLst/>
              <a:ahLst/>
              <a:cxnLst/>
              <a:rect l="l" t="t" r="r" b="b"/>
              <a:pathLst>
                <a:path w="10241280" h="925274">
                  <a:moveTo>
                    <a:pt x="0" y="0"/>
                  </a:moveTo>
                  <a:lnTo>
                    <a:pt x="10241280" y="0"/>
                  </a:lnTo>
                  <a:lnTo>
                    <a:pt x="10241280" y="925274"/>
                  </a:lnTo>
                  <a:lnTo>
                    <a:pt x="0" y="9252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3564" b="-15777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10241280" cy="100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39"/>
                </a:lnSpc>
              </a:pPr>
              <a:r>
                <a:rPr lang="en-US" sz="34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🔬  Technical Approach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784080" y="6257449"/>
            <a:ext cx="749808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 models trained &amp; compared: CNN (scratch), VGG16, ResNet50, DenseNet121 using transfer learning on Kaggle COVID-19 dataset.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69131" y="7591425"/>
            <a:ext cx="8262938" cy="2090738"/>
            <a:chOff x="0" y="0"/>
            <a:chExt cx="11017250" cy="27876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17250" cy="2787650"/>
            </a:xfrm>
            <a:custGeom>
              <a:avLst/>
              <a:gdLst/>
              <a:ahLst/>
              <a:cxnLst/>
              <a:rect l="l" t="t" r="r" b="b"/>
              <a:pathLst>
                <a:path w="11017250" h="2787650">
                  <a:moveTo>
                    <a:pt x="0" y="0"/>
                  </a:moveTo>
                  <a:lnTo>
                    <a:pt x="11017250" y="0"/>
                  </a:lnTo>
                  <a:lnTo>
                    <a:pt x="1101725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A305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60120" y="6652260"/>
            <a:ext cx="7680960" cy="548640"/>
            <a:chOff x="0" y="0"/>
            <a:chExt cx="1024128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051560" y="7791450"/>
            <a:ext cx="7680960" cy="693956"/>
            <a:chOff x="0" y="0"/>
            <a:chExt cx="10241280" cy="92527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241280" cy="925274"/>
            </a:xfrm>
            <a:custGeom>
              <a:avLst/>
              <a:gdLst/>
              <a:ahLst/>
              <a:cxnLst/>
              <a:rect l="l" t="t" r="r" b="b"/>
              <a:pathLst>
                <a:path w="10241280" h="925274">
                  <a:moveTo>
                    <a:pt x="0" y="0"/>
                  </a:moveTo>
                  <a:lnTo>
                    <a:pt x="10241280" y="0"/>
                  </a:lnTo>
                  <a:lnTo>
                    <a:pt x="10241280" y="925274"/>
                  </a:lnTo>
                  <a:lnTo>
                    <a:pt x="0" y="9252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3564" b="-15777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10241280" cy="100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39"/>
                </a:lnSpc>
              </a:pPr>
              <a:r>
                <a:rPr lang="en-US" sz="344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📄  Output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3000" y="8566309"/>
            <a:ext cx="749808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Auto-generated PDF medical reports with disease name, confidence score, severity level, symptoms, tests &amp; treatment advice.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310211" y="7591425"/>
            <a:ext cx="8262938" cy="2090738"/>
            <a:chOff x="0" y="0"/>
            <a:chExt cx="11017250" cy="27876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017250" cy="2787650"/>
            </a:xfrm>
            <a:custGeom>
              <a:avLst/>
              <a:gdLst/>
              <a:ahLst/>
              <a:cxnLst/>
              <a:rect l="l" t="t" r="r" b="b"/>
              <a:pathLst>
                <a:path w="11017250" h="2787650">
                  <a:moveTo>
                    <a:pt x="0" y="0"/>
                  </a:moveTo>
                  <a:lnTo>
                    <a:pt x="11017250" y="0"/>
                  </a:lnTo>
                  <a:lnTo>
                    <a:pt x="1101725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A305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9601200" y="6652260"/>
            <a:ext cx="7680960" cy="548640"/>
            <a:chOff x="0" y="0"/>
            <a:chExt cx="1024128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9601200" y="7791450"/>
            <a:ext cx="7680960" cy="693956"/>
            <a:chOff x="0" y="0"/>
            <a:chExt cx="10241280" cy="92527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1280" cy="925274"/>
            </a:xfrm>
            <a:custGeom>
              <a:avLst/>
              <a:gdLst/>
              <a:ahLst/>
              <a:cxnLst/>
              <a:rect l="l" t="t" r="r" b="b"/>
              <a:pathLst>
                <a:path w="10241280" h="925274">
                  <a:moveTo>
                    <a:pt x="0" y="0"/>
                  </a:moveTo>
                  <a:lnTo>
                    <a:pt x="10241280" y="0"/>
                  </a:lnTo>
                  <a:lnTo>
                    <a:pt x="10241280" y="925274"/>
                  </a:lnTo>
                  <a:lnTo>
                    <a:pt x="0" y="9252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3564" b="-157771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10241280" cy="100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39"/>
                </a:lnSpc>
              </a:pPr>
              <a:r>
                <a:rPr lang="en-US" sz="344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🏥  Impact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9784080" y="8462963"/>
            <a:ext cx="749808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Bridges AI and healthcare — enabling faster triage, telemedicine support, and accessible diagnostics in resource-limited settings.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3716000" cy="960120"/>
            <a:chOff x="0" y="0"/>
            <a:chExt cx="182880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3716000" cy="1045845"/>
            <a:chOff x="0" y="0"/>
            <a:chExt cx="182880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394460"/>
            </a:xfrm>
            <a:custGeom>
              <a:avLst/>
              <a:gdLst/>
              <a:ahLst/>
              <a:cxnLst/>
              <a:rect l="l" t="t" r="r" b="b"/>
              <a:pathLst>
                <a:path w="18288000" h="1394460">
                  <a:moveTo>
                    <a:pt x="0" y="0"/>
                  </a:moveTo>
                  <a:lnTo>
                    <a:pt x="18288000" y="0"/>
                  </a:lnTo>
                  <a:lnTo>
                    <a:pt x="182880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5541" b="-2055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182880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Methodology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9131" y="1423511"/>
            <a:ext cx="8125778" cy="2227898"/>
            <a:chOff x="0" y="0"/>
            <a:chExt cx="10834370" cy="29705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34370" cy="2970530"/>
            </a:xfrm>
            <a:custGeom>
              <a:avLst/>
              <a:gdLst/>
              <a:ahLst/>
              <a:cxnLst/>
              <a:rect l="l" t="t" r="r" b="b"/>
              <a:pathLst>
                <a:path w="10834370" h="2970530">
                  <a:moveTo>
                    <a:pt x="0" y="0"/>
                  </a:moveTo>
                  <a:lnTo>
                    <a:pt x="10834370" y="0"/>
                  </a:lnTo>
                  <a:lnTo>
                    <a:pt x="108343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874871" y="1903571"/>
            <a:ext cx="1199198" cy="1199198"/>
          </a:xfrm>
          <a:custGeom>
            <a:avLst/>
            <a:gdLst/>
            <a:ahLst/>
            <a:cxnLst/>
            <a:rect l="l" t="t" r="r" b="b"/>
            <a:pathLst>
              <a:path w="1199198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91540" y="1920240"/>
            <a:ext cx="1165860" cy="1165860"/>
            <a:chOff x="0" y="0"/>
            <a:chExt cx="155448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91540" y="1877377"/>
            <a:ext cx="1165860" cy="1208723"/>
            <a:chOff x="0" y="0"/>
            <a:chExt cx="1554480" cy="16116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4480" cy="1611630"/>
            </a:xfrm>
            <a:custGeom>
              <a:avLst/>
              <a:gdLst/>
              <a:ahLst/>
              <a:cxnLst/>
              <a:rect l="l" t="t" r="r" b="b"/>
              <a:pathLst>
                <a:path w="1554480" h="1611630">
                  <a:moveTo>
                    <a:pt x="0" y="0"/>
                  </a:moveTo>
                  <a:lnTo>
                    <a:pt x="1554480" y="0"/>
                  </a:lnTo>
                  <a:lnTo>
                    <a:pt x="155448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020" r="-8302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54480" cy="166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63140" y="1714500"/>
            <a:ext cx="6172200" cy="617220"/>
            <a:chOff x="0" y="0"/>
            <a:chExt cx="8229600" cy="822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29600" cy="822960"/>
            </a:xfrm>
            <a:custGeom>
              <a:avLst/>
              <a:gdLst/>
              <a:ahLst/>
              <a:cxnLst/>
              <a:rect l="l" t="t" r="r" b="b"/>
              <a:pathLst>
                <a:path w="8229600" h="822960">
                  <a:moveTo>
                    <a:pt x="0" y="0"/>
                  </a:moveTo>
                  <a:lnTo>
                    <a:pt x="8229600" y="0"/>
                  </a:lnTo>
                  <a:lnTo>
                    <a:pt x="8229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263140" y="1671638"/>
            <a:ext cx="6172200" cy="660083"/>
            <a:chOff x="0" y="0"/>
            <a:chExt cx="8229600" cy="8801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29600" cy="880110"/>
            </a:xfrm>
            <a:custGeom>
              <a:avLst/>
              <a:gdLst/>
              <a:ahLst/>
              <a:cxnLst/>
              <a:rect l="l" t="t" r="r" b="b"/>
              <a:pathLst>
                <a:path w="8229600" h="880110">
                  <a:moveTo>
                    <a:pt x="0" y="0"/>
                  </a:moveTo>
                  <a:lnTo>
                    <a:pt x="8229600" y="0"/>
                  </a:lnTo>
                  <a:lnTo>
                    <a:pt x="8229600" y="880110"/>
                  </a:lnTo>
                  <a:lnTo>
                    <a:pt x="0" y="880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197" b="-13219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229600" cy="93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Loading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54580" y="2489835"/>
            <a:ext cx="59893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Unzip &amp; scan directory for train/test split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10211" y="1423511"/>
            <a:ext cx="8125778" cy="2227898"/>
            <a:chOff x="0" y="0"/>
            <a:chExt cx="10834370" cy="2970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834370" cy="2970530"/>
            </a:xfrm>
            <a:custGeom>
              <a:avLst/>
              <a:gdLst/>
              <a:ahLst/>
              <a:cxnLst/>
              <a:rect l="l" t="t" r="r" b="b"/>
              <a:pathLst>
                <a:path w="10834370" h="2970530">
                  <a:moveTo>
                    <a:pt x="0" y="0"/>
                  </a:moveTo>
                  <a:lnTo>
                    <a:pt x="10834370" y="0"/>
                  </a:lnTo>
                  <a:lnTo>
                    <a:pt x="108343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9515951" y="1903571"/>
            <a:ext cx="1199197" cy="1199198"/>
          </a:xfrm>
          <a:custGeom>
            <a:avLst/>
            <a:gdLst/>
            <a:ahLst/>
            <a:cxnLst/>
            <a:rect l="l" t="t" r="r" b="b"/>
            <a:pathLst>
              <a:path w="1199197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532620" y="1920240"/>
            <a:ext cx="1165860" cy="1165860"/>
            <a:chOff x="0" y="0"/>
            <a:chExt cx="1554480" cy="15544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532620" y="1877377"/>
            <a:ext cx="1165860" cy="1208723"/>
            <a:chOff x="0" y="0"/>
            <a:chExt cx="1554480" cy="16116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54480" cy="1611630"/>
            </a:xfrm>
            <a:custGeom>
              <a:avLst/>
              <a:gdLst/>
              <a:ahLst/>
              <a:cxnLst/>
              <a:rect l="l" t="t" r="r" b="b"/>
              <a:pathLst>
                <a:path w="1554480" h="1611630">
                  <a:moveTo>
                    <a:pt x="0" y="0"/>
                  </a:moveTo>
                  <a:lnTo>
                    <a:pt x="1554480" y="0"/>
                  </a:lnTo>
                  <a:lnTo>
                    <a:pt x="155448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020" r="-8302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554480" cy="166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04220" y="1714500"/>
            <a:ext cx="6172200" cy="617220"/>
            <a:chOff x="0" y="0"/>
            <a:chExt cx="8229600" cy="822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29600" cy="822960"/>
            </a:xfrm>
            <a:custGeom>
              <a:avLst/>
              <a:gdLst/>
              <a:ahLst/>
              <a:cxnLst/>
              <a:rect l="l" t="t" r="r" b="b"/>
              <a:pathLst>
                <a:path w="8229600" h="822960">
                  <a:moveTo>
                    <a:pt x="0" y="0"/>
                  </a:moveTo>
                  <a:lnTo>
                    <a:pt x="8229600" y="0"/>
                  </a:lnTo>
                  <a:lnTo>
                    <a:pt x="8229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0904220" y="1671638"/>
            <a:ext cx="6172200" cy="660083"/>
            <a:chOff x="0" y="0"/>
            <a:chExt cx="8229600" cy="8801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29600" cy="880110"/>
            </a:xfrm>
            <a:custGeom>
              <a:avLst/>
              <a:gdLst/>
              <a:ahLst/>
              <a:cxnLst/>
              <a:rect l="l" t="t" r="r" b="b"/>
              <a:pathLst>
                <a:path w="8229600" h="880110">
                  <a:moveTo>
                    <a:pt x="0" y="0"/>
                  </a:moveTo>
                  <a:lnTo>
                    <a:pt x="8229600" y="0"/>
                  </a:lnTo>
                  <a:lnTo>
                    <a:pt x="8229600" y="880110"/>
                  </a:lnTo>
                  <a:lnTo>
                    <a:pt x="0" y="880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197" b="-13219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8229600" cy="93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34249" y="2489835"/>
            <a:ext cx="59893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Rescale 1/255, resize to 224×224, batch=32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69131" y="3892391"/>
            <a:ext cx="8125778" cy="2227898"/>
            <a:chOff x="0" y="0"/>
            <a:chExt cx="10834370" cy="29705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834370" cy="2970530"/>
            </a:xfrm>
            <a:custGeom>
              <a:avLst/>
              <a:gdLst/>
              <a:ahLst/>
              <a:cxnLst/>
              <a:rect l="l" t="t" r="r" b="b"/>
              <a:pathLst>
                <a:path w="10834370" h="2970530">
                  <a:moveTo>
                    <a:pt x="0" y="0"/>
                  </a:moveTo>
                  <a:lnTo>
                    <a:pt x="10834370" y="0"/>
                  </a:lnTo>
                  <a:lnTo>
                    <a:pt x="108343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sp>
        <p:nvSpPr>
          <p:cNvPr id="37" name="Freeform 37"/>
          <p:cNvSpPr/>
          <p:nvPr/>
        </p:nvSpPr>
        <p:spPr>
          <a:xfrm>
            <a:off x="874871" y="4372451"/>
            <a:ext cx="1199198" cy="1199198"/>
          </a:xfrm>
          <a:custGeom>
            <a:avLst/>
            <a:gdLst/>
            <a:ahLst/>
            <a:cxnLst/>
            <a:rect l="l" t="t" r="r" b="b"/>
            <a:pathLst>
              <a:path w="1199198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891540" y="4389120"/>
            <a:ext cx="1165860" cy="1165860"/>
            <a:chOff x="0" y="0"/>
            <a:chExt cx="1554480" cy="1554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891540" y="4346258"/>
            <a:ext cx="1165860" cy="1208723"/>
            <a:chOff x="0" y="0"/>
            <a:chExt cx="1554480" cy="16116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54480" cy="1611630"/>
            </a:xfrm>
            <a:custGeom>
              <a:avLst/>
              <a:gdLst/>
              <a:ahLst/>
              <a:cxnLst/>
              <a:rect l="l" t="t" r="r" b="b"/>
              <a:pathLst>
                <a:path w="1554480" h="1611630">
                  <a:moveTo>
                    <a:pt x="0" y="0"/>
                  </a:moveTo>
                  <a:lnTo>
                    <a:pt x="1554480" y="0"/>
                  </a:lnTo>
                  <a:lnTo>
                    <a:pt x="155448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020" r="-8302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1554480" cy="166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63140" y="4183380"/>
            <a:ext cx="6172200" cy="617220"/>
            <a:chOff x="0" y="0"/>
            <a:chExt cx="8229600" cy="8229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229600" cy="822960"/>
            </a:xfrm>
            <a:custGeom>
              <a:avLst/>
              <a:gdLst/>
              <a:ahLst/>
              <a:cxnLst/>
              <a:rect l="l" t="t" r="r" b="b"/>
              <a:pathLst>
                <a:path w="8229600" h="822960">
                  <a:moveTo>
                    <a:pt x="0" y="0"/>
                  </a:moveTo>
                  <a:lnTo>
                    <a:pt x="8229600" y="0"/>
                  </a:lnTo>
                  <a:lnTo>
                    <a:pt x="8229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2263140" y="4140517"/>
            <a:ext cx="6172200" cy="660083"/>
            <a:chOff x="0" y="0"/>
            <a:chExt cx="8229600" cy="88011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29600" cy="880110"/>
            </a:xfrm>
            <a:custGeom>
              <a:avLst/>
              <a:gdLst/>
              <a:ahLst/>
              <a:cxnLst/>
              <a:rect l="l" t="t" r="r" b="b"/>
              <a:pathLst>
                <a:path w="8229600" h="880110">
                  <a:moveTo>
                    <a:pt x="0" y="0"/>
                  </a:moveTo>
                  <a:lnTo>
                    <a:pt x="8229600" y="0"/>
                  </a:lnTo>
                  <a:lnTo>
                    <a:pt x="8229600" y="880110"/>
                  </a:lnTo>
                  <a:lnTo>
                    <a:pt x="0" y="880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197" b="-13219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8229600" cy="93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Build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2354580" y="4962525"/>
            <a:ext cx="598932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CNN from scratch + 3 pretrained transfer learning models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310211" y="3892391"/>
            <a:ext cx="8125778" cy="2227898"/>
            <a:chOff x="0" y="0"/>
            <a:chExt cx="10834370" cy="297053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834370" cy="2970530"/>
            </a:xfrm>
            <a:custGeom>
              <a:avLst/>
              <a:gdLst/>
              <a:ahLst/>
              <a:cxnLst/>
              <a:rect l="l" t="t" r="r" b="b"/>
              <a:pathLst>
                <a:path w="10834370" h="2970530">
                  <a:moveTo>
                    <a:pt x="0" y="0"/>
                  </a:moveTo>
                  <a:lnTo>
                    <a:pt x="10834370" y="0"/>
                  </a:lnTo>
                  <a:lnTo>
                    <a:pt x="108343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sp>
        <p:nvSpPr>
          <p:cNvPr id="51" name="Freeform 51"/>
          <p:cNvSpPr/>
          <p:nvPr/>
        </p:nvSpPr>
        <p:spPr>
          <a:xfrm>
            <a:off x="9515951" y="4372451"/>
            <a:ext cx="1199197" cy="1199198"/>
          </a:xfrm>
          <a:custGeom>
            <a:avLst/>
            <a:gdLst/>
            <a:ahLst/>
            <a:cxnLst/>
            <a:rect l="l" t="t" r="r" b="b"/>
            <a:pathLst>
              <a:path w="1199197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9532620" y="4389120"/>
            <a:ext cx="1165860" cy="1165860"/>
            <a:chOff x="0" y="0"/>
            <a:chExt cx="1554480" cy="15544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9532620" y="4346258"/>
            <a:ext cx="1165860" cy="1208723"/>
            <a:chOff x="0" y="0"/>
            <a:chExt cx="1554480" cy="161163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54480" cy="1611630"/>
            </a:xfrm>
            <a:custGeom>
              <a:avLst/>
              <a:gdLst/>
              <a:ahLst/>
              <a:cxnLst/>
              <a:rect l="l" t="t" r="r" b="b"/>
              <a:pathLst>
                <a:path w="1554480" h="1611630">
                  <a:moveTo>
                    <a:pt x="0" y="0"/>
                  </a:moveTo>
                  <a:lnTo>
                    <a:pt x="1554480" y="0"/>
                  </a:lnTo>
                  <a:lnTo>
                    <a:pt x="155448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020" r="-8302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1554480" cy="166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904220" y="4183380"/>
            <a:ext cx="6172200" cy="617220"/>
            <a:chOff x="0" y="0"/>
            <a:chExt cx="8229600" cy="8229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229600" cy="822960"/>
            </a:xfrm>
            <a:custGeom>
              <a:avLst/>
              <a:gdLst/>
              <a:ahLst/>
              <a:cxnLst/>
              <a:rect l="l" t="t" r="r" b="b"/>
              <a:pathLst>
                <a:path w="8229600" h="822960">
                  <a:moveTo>
                    <a:pt x="0" y="0"/>
                  </a:moveTo>
                  <a:lnTo>
                    <a:pt x="8229600" y="0"/>
                  </a:lnTo>
                  <a:lnTo>
                    <a:pt x="8229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0904220" y="4140517"/>
            <a:ext cx="6172200" cy="660083"/>
            <a:chOff x="0" y="0"/>
            <a:chExt cx="8229600" cy="88011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229600" cy="880110"/>
            </a:xfrm>
            <a:custGeom>
              <a:avLst/>
              <a:gdLst/>
              <a:ahLst/>
              <a:cxnLst/>
              <a:rect l="l" t="t" r="r" b="b"/>
              <a:pathLst>
                <a:path w="8229600" h="880110">
                  <a:moveTo>
                    <a:pt x="0" y="0"/>
                  </a:moveTo>
                  <a:lnTo>
                    <a:pt x="8229600" y="0"/>
                  </a:lnTo>
                  <a:lnTo>
                    <a:pt x="8229600" y="880110"/>
                  </a:lnTo>
                  <a:lnTo>
                    <a:pt x="0" y="880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197" b="-13219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8229600" cy="93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991374" y="4962525"/>
            <a:ext cx="598932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5 epochs, Adam optimizer, categorical cross-entropy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69131" y="6361271"/>
            <a:ext cx="8125778" cy="2227898"/>
            <a:chOff x="0" y="0"/>
            <a:chExt cx="10834370" cy="297053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834370" cy="2970530"/>
            </a:xfrm>
            <a:custGeom>
              <a:avLst/>
              <a:gdLst/>
              <a:ahLst/>
              <a:cxnLst/>
              <a:rect l="l" t="t" r="r" b="b"/>
              <a:pathLst>
                <a:path w="10834370" h="2970530">
                  <a:moveTo>
                    <a:pt x="0" y="0"/>
                  </a:moveTo>
                  <a:lnTo>
                    <a:pt x="10834370" y="0"/>
                  </a:lnTo>
                  <a:lnTo>
                    <a:pt x="108343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sp>
        <p:nvSpPr>
          <p:cNvPr id="65" name="Freeform 65"/>
          <p:cNvSpPr/>
          <p:nvPr/>
        </p:nvSpPr>
        <p:spPr>
          <a:xfrm>
            <a:off x="874871" y="6841331"/>
            <a:ext cx="1199198" cy="1199197"/>
          </a:xfrm>
          <a:custGeom>
            <a:avLst/>
            <a:gdLst/>
            <a:ahLst/>
            <a:cxnLst/>
            <a:rect l="l" t="t" r="r" b="b"/>
            <a:pathLst>
              <a:path w="1199198" h="1199197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6" name="Group 66"/>
          <p:cNvGrpSpPr/>
          <p:nvPr/>
        </p:nvGrpSpPr>
        <p:grpSpPr>
          <a:xfrm>
            <a:off x="891540" y="6858000"/>
            <a:ext cx="1165860" cy="1165860"/>
            <a:chOff x="0" y="0"/>
            <a:chExt cx="1554480" cy="15544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891540" y="6815138"/>
            <a:ext cx="1165860" cy="1208723"/>
            <a:chOff x="0" y="0"/>
            <a:chExt cx="1554480" cy="161163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554480" cy="1611630"/>
            </a:xfrm>
            <a:custGeom>
              <a:avLst/>
              <a:gdLst/>
              <a:ahLst/>
              <a:cxnLst/>
              <a:rect l="l" t="t" r="r" b="b"/>
              <a:pathLst>
                <a:path w="1554480" h="1611630">
                  <a:moveTo>
                    <a:pt x="0" y="0"/>
                  </a:moveTo>
                  <a:lnTo>
                    <a:pt x="1554480" y="0"/>
                  </a:lnTo>
                  <a:lnTo>
                    <a:pt x="155448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020" r="-8302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1554480" cy="166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263140" y="6652260"/>
            <a:ext cx="6172200" cy="617220"/>
            <a:chOff x="0" y="0"/>
            <a:chExt cx="8229600" cy="8229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229600" cy="822960"/>
            </a:xfrm>
            <a:custGeom>
              <a:avLst/>
              <a:gdLst/>
              <a:ahLst/>
              <a:cxnLst/>
              <a:rect l="l" t="t" r="r" b="b"/>
              <a:pathLst>
                <a:path w="8229600" h="822960">
                  <a:moveTo>
                    <a:pt x="0" y="0"/>
                  </a:moveTo>
                  <a:lnTo>
                    <a:pt x="8229600" y="0"/>
                  </a:lnTo>
                  <a:lnTo>
                    <a:pt x="8229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2263140" y="6609397"/>
            <a:ext cx="6172200" cy="660082"/>
            <a:chOff x="0" y="0"/>
            <a:chExt cx="8229600" cy="88011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229600" cy="880110"/>
            </a:xfrm>
            <a:custGeom>
              <a:avLst/>
              <a:gdLst/>
              <a:ahLst/>
              <a:cxnLst/>
              <a:rect l="l" t="t" r="r" b="b"/>
              <a:pathLst>
                <a:path w="8229600" h="880110">
                  <a:moveTo>
                    <a:pt x="0" y="0"/>
                  </a:moveTo>
                  <a:lnTo>
                    <a:pt x="8229600" y="0"/>
                  </a:lnTo>
                  <a:lnTo>
                    <a:pt x="8229600" y="880110"/>
                  </a:lnTo>
                  <a:lnTo>
                    <a:pt x="0" y="880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197" b="-13219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57150"/>
              <a:ext cx="8229600" cy="93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2423160" y="7572375"/>
            <a:ext cx="59893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Accuracy, confusion matrix, classification report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9310211" y="6361271"/>
            <a:ext cx="8125778" cy="2227898"/>
            <a:chOff x="0" y="0"/>
            <a:chExt cx="10834370" cy="297053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834370" cy="2970530"/>
            </a:xfrm>
            <a:custGeom>
              <a:avLst/>
              <a:gdLst/>
              <a:ahLst/>
              <a:cxnLst/>
              <a:rect l="l" t="t" r="r" b="b"/>
              <a:pathLst>
                <a:path w="10834370" h="2970530">
                  <a:moveTo>
                    <a:pt x="0" y="0"/>
                  </a:moveTo>
                  <a:lnTo>
                    <a:pt x="10834370" y="0"/>
                  </a:lnTo>
                  <a:lnTo>
                    <a:pt x="108343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sp>
        <p:nvSpPr>
          <p:cNvPr id="79" name="Freeform 79"/>
          <p:cNvSpPr/>
          <p:nvPr/>
        </p:nvSpPr>
        <p:spPr>
          <a:xfrm>
            <a:off x="9515951" y="6841331"/>
            <a:ext cx="1199197" cy="1199197"/>
          </a:xfrm>
          <a:custGeom>
            <a:avLst/>
            <a:gdLst/>
            <a:ahLst/>
            <a:cxnLst/>
            <a:rect l="l" t="t" r="r" b="b"/>
            <a:pathLst>
              <a:path w="1199197" h="1199197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0" name="Group 80"/>
          <p:cNvGrpSpPr/>
          <p:nvPr/>
        </p:nvGrpSpPr>
        <p:grpSpPr>
          <a:xfrm>
            <a:off x="9532620" y="6858000"/>
            <a:ext cx="1165860" cy="1165860"/>
            <a:chOff x="0" y="0"/>
            <a:chExt cx="1554480" cy="15544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9532620" y="6815138"/>
            <a:ext cx="1165860" cy="1208723"/>
            <a:chOff x="0" y="0"/>
            <a:chExt cx="1554480" cy="161163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554480" cy="1611630"/>
            </a:xfrm>
            <a:custGeom>
              <a:avLst/>
              <a:gdLst/>
              <a:ahLst/>
              <a:cxnLst/>
              <a:rect l="l" t="t" r="r" b="b"/>
              <a:pathLst>
                <a:path w="1554480" h="1611630">
                  <a:moveTo>
                    <a:pt x="0" y="0"/>
                  </a:moveTo>
                  <a:lnTo>
                    <a:pt x="1554480" y="0"/>
                  </a:lnTo>
                  <a:lnTo>
                    <a:pt x="1554480" y="1611630"/>
                  </a:lnTo>
                  <a:lnTo>
                    <a:pt x="0" y="1611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020" r="-8302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57150"/>
              <a:ext cx="1554480" cy="166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904220" y="6652260"/>
            <a:ext cx="6172200" cy="617220"/>
            <a:chOff x="0" y="0"/>
            <a:chExt cx="8229600" cy="8229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229600" cy="822960"/>
            </a:xfrm>
            <a:custGeom>
              <a:avLst/>
              <a:gdLst/>
              <a:ahLst/>
              <a:cxnLst/>
              <a:rect l="l" t="t" r="r" b="b"/>
              <a:pathLst>
                <a:path w="8229600" h="822960">
                  <a:moveTo>
                    <a:pt x="0" y="0"/>
                  </a:moveTo>
                  <a:lnTo>
                    <a:pt x="8229600" y="0"/>
                  </a:lnTo>
                  <a:lnTo>
                    <a:pt x="8229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10904220" y="6609397"/>
            <a:ext cx="6172200" cy="660082"/>
            <a:chOff x="0" y="0"/>
            <a:chExt cx="8229600" cy="88011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229600" cy="880110"/>
            </a:xfrm>
            <a:custGeom>
              <a:avLst/>
              <a:gdLst/>
              <a:ahLst/>
              <a:cxnLst/>
              <a:rect l="l" t="t" r="r" b="b"/>
              <a:pathLst>
                <a:path w="8229600" h="880110">
                  <a:moveTo>
                    <a:pt x="0" y="0"/>
                  </a:moveTo>
                  <a:lnTo>
                    <a:pt x="8229600" y="0"/>
                  </a:lnTo>
                  <a:lnTo>
                    <a:pt x="8229600" y="880110"/>
                  </a:lnTo>
                  <a:lnTo>
                    <a:pt x="0" y="880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197" b="-132197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57150"/>
              <a:ext cx="8229600" cy="937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Gen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1067574" y="7572375"/>
            <a:ext cx="59893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new X-Ray, generate AI medical PDF report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8761571" y="1629251"/>
            <a:ext cx="101917" cy="7165657"/>
            <a:chOff x="0" y="0"/>
            <a:chExt cx="135890" cy="955421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35890" cy="9554210"/>
            </a:xfrm>
            <a:custGeom>
              <a:avLst/>
              <a:gdLst/>
              <a:ahLst/>
              <a:cxnLst/>
              <a:rect l="l" t="t" r="r" b="b"/>
              <a:pathLst>
                <a:path w="135890" h="9554210">
                  <a:moveTo>
                    <a:pt x="0" y="0"/>
                  </a:moveTo>
                  <a:lnTo>
                    <a:pt x="135890" y="0"/>
                  </a:lnTo>
                  <a:lnTo>
                    <a:pt x="135890" y="9554210"/>
                  </a:lnTo>
                  <a:lnTo>
                    <a:pt x="0" y="955421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3716000" cy="960120"/>
            <a:chOff x="0" y="0"/>
            <a:chExt cx="182880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3716000" cy="1045845"/>
            <a:chOff x="0" y="0"/>
            <a:chExt cx="182880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394460"/>
            </a:xfrm>
            <a:custGeom>
              <a:avLst/>
              <a:gdLst/>
              <a:ahLst/>
              <a:cxnLst/>
              <a:rect l="l" t="t" r="r" b="b"/>
              <a:pathLst>
                <a:path w="18288000" h="1394460">
                  <a:moveTo>
                    <a:pt x="0" y="0"/>
                  </a:moveTo>
                  <a:lnTo>
                    <a:pt x="18288000" y="0"/>
                  </a:lnTo>
                  <a:lnTo>
                    <a:pt x="182880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5541" b="-2055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182880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🔬  Models Used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462" y="1406842"/>
            <a:ext cx="8159115" cy="3358515"/>
            <a:chOff x="0" y="0"/>
            <a:chExt cx="10878820" cy="44780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78820" cy="4478020"/>
            </a:xfrm>
            <a:custGeom>
              <a:avLst/>
              <a:gdLst/>
              <a:ahLst/>
              <a:cxnLst/>
              <a:rect l="l" t="t" r="r" b="b"/>
              <a:pathLst>
                <a:path w="10878820" h="4478020">
                  <a:moveTo>
                    <a:pt x="0" y="0"/>
                  </a:moveTo>
                  <a:lnTo>
                    <a:pt x="10878820" y="0"/>
                  </a:lnTo>
                  <a:lnTo>
                    <a:pt x="10878820" y="4478020"/>
                  </a:lnTo>
                  <a:lnTo>
                    <a:pt x="0" y="4478020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60120" y="1645920"/>
            <a:ext cx="4800600" cy="685800"/>
            <a:chOff x="0" y="0"/>
            <a:chExt cx="640080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0800" cy="914400"/>
            </a:xfrm>
            <a:custGeom>
              <a:avLst/>
              <a:gdLst/>
              <a:ahLst/>
              <a:cxnLst/>
              <a:rect l="l" t="t" r="r" b="b"/>
              <a:pathLst>
                <a:path w="6400800" h="9144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00" b="-8630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60120" y="1617345"/>
            <a:ext cx="4800600" cy="714375"/>
            <a:chOff x="0" y="0"/>
            <a:chExt cx="6400800" cy="952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0800" cy="952500"/>
            </a:xfrm>
            <a:custGeom>
              <a:avLst/>
              <a:gdLst/>
              <a:ahLst/>
              <a:cxnLst/>
              <a:rect l="l" t="t" r="r" b="b"/>
              <a:pathLst>
                <a:path w="6400800" h="952500">
                  <a:moveTo>
                    <a:pt x="0" y="0"/>
                  </a:moveTo>
                  <a:lnTo>
                    <a:pt x="6400800" y="0"/>
                  </a:lnTo>
                  <a:lnTo>
                    <a:pt x="6400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939" b="-8093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6400800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8"/>
                </a:lnSpc>
              </a:pPr>
              <a:r>
                <a:rPr lang="en-US" sz="3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 (Scratch)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29851" y="1588103"/>
            <a:ext cx="2022158" cy="787718"/>
            <a:chOff x="0" y="0"/>
            <a:chExt cx="2696210" cy="1050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96210" cy="1050290"/>
            </a:xfrm>
            <a:custGeom>
              <a:avLst/>
              <a:gdLst/>
              <a:ahLst/>
              <a:cxnLst/>
              <a:rect l="l" t="t" r="r" b="b"/>
              <a:pathLst>
                <a:path w="2696210" h="1050290">
                  <a:moveTo>
                    <a:pt x="0" y="0"/>
                  </a:moveTo>
                  <a:lnTo>
                    <a:pt x="2696210" y="0"/>
                  </a:lnTo>
                  <a:lnTo>
                    <a:pt x="269621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46520" y="1604772"/>
            <a:ext cx="1988820" cy="754380"/>
            <a:chOff x="0" y="0"/>
            <a:chExt cx="265176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40">
                  <a:moveTo>
                    <a:pt x="0" y="0"/>
                  </a:moveTo>
                  <a:lnTo>
                    <a:pt x="2651760" y="0"/>
                  </a:lnTo>
                  <a:lnTo>
                    <a:pt x="2651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3" b="-133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446520" y="1569053"/>
            <a:ext cx="2030778" cy="806768"/>
            <a:chOff x="0" y="0"/>
            <a:chExt cx="2651760" cy="10534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51760" cy="1053465"/>
            </a:xfrm>
            <a:custGeom>
              <a:avLst/>
              <a:gdLst/>
              <a:ahLst/>
              <a:cxnLst/>
              <a:rect l="l" t="t" r="r" b="b"/>
              <a:pathLst>
                <a:path w="2651760" h="1053465">
                  <a:moveTo>
                    <a:pt x="0" y="0"/>
                  </a:moveTo>
                  <a:lnTo>
                    <a:pt x="2651760" y="0"/>
                  </a:lnTo>
                  <a:lnTo>
                    <a:pt x="2651760" y="1053465"/>
                  </a:lnTo>
                  <a:lnTo>
                    <a:pt x="0" y="10534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1" r="-97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651760" cy="1110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81.82%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51560" y="2566035"/>
            <a:ext cx="736092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3×Conv2D layers (32 64 128) + MaxPooling + Dense(256) + Dropout(0.5). Built from scratch. Fastest to train.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93543" y="1406842"/>
            <a:ext cx="8159115" cy="3358515"/>
            <a:chOff x="0" y="0"/>
            <a:chExt cx="10878820" cy="44780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878820" cy="4478020"/>
            </a:xfrm>
            <a:custGeom>
              <a:avLst/>
              <a:gdLst/>
              <a:ahLst/>
              <a:cxnLst/>
              <a:rect l="l" t="t" r="r" b="b"/>
              <a:pathLst>
                <a:path w="10878820" h="4478020">
                  <a:moveTo>
                    <a:pt x="0" y="0"/>
                  </a:moveTo>
                  <a:lnTo>
                    <a:pt x="10878820" y="0"/>
                  </a:lnTo>
                  <a:lnTo>
                    <a:pt x="10878820" y="4478020"/>
                  </a:lnTo>
                  <a:lnTo>
                    <a:pt x="0" y="4478020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601200" y="1645920"/>
            <a:ext cx="4800600" cy="685800"/>
            <a:chOff x="0" y="0"/>
            <a:chExt cx="64008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00800" cy="914400"/>
            </a:xfrm>
            <a:custGeom>
              <a:avLst/>
              <a:gdLst/>
              <a:ahLst/>
              <a:cxnLst/>
              <a:rect l="l" t="t" r="r" b="b"/>
              <a:pathLst>
                <a:path w="6400800" h="9144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00" b="-8630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601200" y="1617345"/>
            <a:ext cx="4800600" cy="714375"/>
            <a:chOff x="0" y="0"/>
            <a:chExt cx="6400800" cy="952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00800" cy="952500"/>
            </a:xfrm>
            <a:custGeom>
              <a:avLst/>
              <a:gdLst/>
              <a:ahLst/>
              <a:cxnLst/>
              <a:rect l="l" t="t" r="r" b="b"/>
              <a:pathLst>
                <a:path w="6400800" h="952500">
                  <a:moveTo>
                    <a:pt x="0" y="0"/>
                  </a:moveTo>
                  <a:lnTo>
                    <a:pt x="6400800" y="0"/>
                  </a:lnTo>
                  <a:lnTo>
                    <a:pt x="6400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939" b="-8093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6400800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8"/>
                </a:lnSpc>
              </a:pPr>
              <a:r>
                <a:rPr lang="en-US" sz="3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VGG16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070931" y="1588103"/>
            <a:ext cx="2022158" cy="787718"/>
            <a:chOff x="0" y="0"/>
            <a:chExt cx="2696210" cy="10502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96210" cy="1050290"/>
            </a:xfrm>
            <a:custGeom>
              <a:avLst/>
              <a:gdLst/>
              <a:ahLst/>
              <a:cxnLst/>
              <a:rect l="l" t="t" r="r" b="b"/>
              <a:pathLst>
                <a:path w="2696210" h="1050290">
                  <a:moveTo>
                    <a:pt x="0" y="0"/>
                  </a:moveTo>
                  <a:lnTo>
                    <a:pt x="2696210" y="0"/>
                  </a:lnTo>
                  <a:lnTo>
                    <a:pt x="269621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7B2FBE"/>
            </a:solidFill>
            <a:ln w="1905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5087600" y="1604772"/>
            <a:ext cx="1988820" cy="754380"/>
            <a:chOff x="0" y="0"/>
            <a:chExt cx="2651760" cy="1005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40">
                  <a:moveTo>
                    <a:pt x="0" y="0"/>
                  </a:moveTo>
                  <a:lnTo>
                    <a:pt x="2651760" y="0"/>
                  </a:lnTo>
                  <a:lnTo>
                    <a:pt x="2651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3" b="-1334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5087600" y="1569053"/>
            <a:ext cx="1988820" cy="790099"/>
            <a:chOff x="0" y="0"/>
            <a:chExt cx="2651760" cy="10534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651760" cy="1053465"/>
            </a:xfrm>
            <a:custGeom>
              <a:avLst/>
              <a:gdLst/>
              <a:ahLst/>
              <a:cxnLst/>
              <a:rect l="l" t="t" r="r" b="b"/>
              <a:pathLst>
                <a:path w="2651760" h="1053465">
                  <a:moveTo>
                    <a:pt x="0" y="0"/>
                  </a:moveTo>
                  <a:lnTo>
                    <a:pt x="2651760" y="0"/>
                  </a:lnTo>
                  <a:lnTo>
                    <a:pt x="2651760" y="1053465"/>
                  </a:lnTo>
                  <a:lnTo>
                    <a:pt x="0" y="10534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1" r="-97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2651760" cy="1110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692640" y="2566035"/>
            <a:ext cx="736092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16-layer deep CNN. ImageNet pretrained. Frozen base + GlobalAvgPool + Dense(256). Strong feature extractor.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52462" y="5041582"/>
            <a:ext cx="8159115" cy="3358515"/>
            <a:chOff x="0" y="0"/>
            <a:chExt cx="10878820" cy="44780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878820" cy="4478020"/>
            </a:xfrm>
            <a:custGeom>
              <a:avLst/>
              <a:gdLst/>
              <a:ahLst/>
              <a:cxnLst/>
              <a:rect l="l" t="t" r="r" b="b"/>
              <a:pathLst>
                <a:path w="10878820" h="4478020">
                  <a:moveTo>
                    <a:pt x="0" y="0"/>
                  </a:moveTo>
                  <a:lnTo>
                    <a:pt x="10878820" y="0"/>
                  </a:lnTo>
                  <a:lnTo>
                    <a:pt x="10878820" y="4478020"/>
                  </a:lnTo>
                  <a:lnTo>
                    <a:pt x="0" y="4478020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60120" y="5280660"/>
            <a:ext cx="4800600" cy="685800"/>
            <a:chOff x="0" y="0"/>
            <a:chExt cx="64008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400800" cy="914400"/>
            </a:xfrm>
            <a:custGeom>
              <a:avLst/>
              <a:gdLst/>
              <a:ahLst/>
              <a:cxnLst/>
              <a:rect l="l" t="t" r="r" b="b"/>
              <a:pathLst>
                <a:path w="6400800" h="9144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00" b="-86301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960120" y="5252085"/>
            <a:ext cx="4800600" cy="714375"/>
            <a:chOff x="0" y="0"/>
            <a:chExt cx="6400800" cy="9525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400800" cy="952500"/>
            </a:xfrm>
            <a:custGeom>
              <a:avLst/>
              <a:gdLst/>
              <a:ahLst/>
              <a:cxnLst/>
              <a:rect l="l" t="t" r="r" b="b"/>
              <a:pathLst>
                <a:path w="6400800" h="952500">
                  <a:moveTo>
                    <a:pt x="0" y="0"/>
                  </a:moveTo>
                  <a:lnTo>
                    <a:pt x="6400800" y="0"/>
                  </a:lnTo>
                  <a:lnTo>
                    <a:pt x="6400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939" b="-8093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6400800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8"/>
                </a:lnSpc>
              </a:pPr>
              <a:r>
                <a:rPr lang="en-US" sz="3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ResNet50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29851" y="5222843"/>
            <a:ext cx="2022158" cy="787718"/>
            <a:chOff x="0" y="0"/>
            <a:chExt cx="2696210" cy="105029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696210" cy="1050290"/>
            </a:xfrm>
            <a:custGeom>
              <a:avLst/>
              <a:gdLst/>
              <a:ahLst/>
              <a:cxnLst/>
              <a:rect l="l" t="t" r="r" b="b"/>
              <a:pathLst>
                <a:path w="2696210" h="1050290">
                  <a:moveTo>
                    <a:pt x="0" y="0"/>
                  </a:moveTo>
                  <a:lnTo>
                    <a:pt x="2696210" y="0"/>
                  </a:lnTo>
                  <a:lnTo>
                    <a:pt x="269621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44336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446520" y="5239512"/>
            <a:ext cx="1988820" cy="754380"/>
            <a:chOff x="0" y="0"/>
            <a:chExt cx="2651760" cy="10058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40">
                  <a:moveTo>
                    <a:pt x="0" y="0"/>
                  </a:moveTo>
                  <a:lnTo>
                    <a:pt x="2651760" y="0"/>
                  </a:lnTo>
                  <a:lnTo>
                    <a:pt x="2651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3" b="-1334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6446520" y="5203793"/>
            <a:ext cx="1988820" cy="790099"/>
            <a:chOff x="0" y="0"/>
            <a:chExt cx="2651760" cy="105346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651760" cy="1053465"/>
            </a:xfrm>
            <a:custGeom>
              <a:avLst/>
              <a:gdLst/>
              <a:ahLst/>
              <a:cxnLst/>
              <a:rect l="l" t="t" r="r" b="b"/>
              <a:pathLst>
                <a:path w="2651760" h="1053465">
                  <a:moveTo>
                    <a:pt x="0" y="0"/>
                  </a:moveTo>
                  <a:lnTo>
                    <a:pt x="2651760" y="0"/>
                  </a:lnTo>
                  <a:lnTo>
                    <a:pt x="2651760" y="1053465"/>
                  </a:lnTo>
                  <a:lnTo>
                    <a:pt x="0" y="10534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1" r="-97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2651760" cy="1110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80.30%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51560" y="6200775"/>
            <a:ext cx="736092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50-layer residual network. Skip connections prevent vanishing gradients. Solid foundation for medical imaging.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293543" y="5041582"/>
            <a:ext cx="8159115" cy="3358515"/>
            <a:chOff x="0" y="0"/>
            <a:chExt cx="10878820" cy="44780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878820" cy="4478020"/>
            </a:xfrm>
            <a:custGeom>
              <a:avLst/>
              <a:gdLst/>
              <a:ahLst/>
              <a:cxnLst/>
              <a:rect l="l" t="t" r="r" b="b"/>
              <a:pathLst>
                <a:path w="10878820" h="4478020">
                  <a:moveTo>
                    <a:pt x="0" y="0"/>
                  </a:moveTo>
                  <a:lnTo>
                    <a:pt x="10878820" y="0"/>
                  </a:lnTo>
                  <a:lnTo>
                    <a:pt x="10878820" y="4478020"/>
                  </a:lnTo>
                  <a:lnTo>
                    <a:pt x="0" y="4478020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9601200" y="5280660"/>
            <a:ext cx="4800600" cy="685800"/>
            <a:chOff x="0" y="0"/>
            <a:chExt cx="640080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00800" cy="914400"/>
            </a:xfrm>
            <a:custGeom>
              <a:avLst/>
              <a:gdLst/>
              <a:ahLst/>
              <a:cxnLst/>
              <a:rect l="l" t="t" r="r" b="b"/>
              <a:pathLst>
                <a:path w="6400800" h="9144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00" b="-86301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9601200" y="5252085"/>
            <a:ext cx="4800600" cy="714375"/>
            <a:chOff x="0" y="0"/>
            <a:chExt cx="6400800" cy="9525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400800" cy="952500"/>
            </a:xfrm>
            <a:custGeom>
              <a:avLst/>
              <a:gdLst/>
              <a:ahLst/>
              <a:cxnLst/>
              <a:rect l="l" t="t" r="r" b="b"/>
              <a:pathLst>
                <a:path w="6400800" h="952500">
                  <a:moveTo>
                    <a:pt x="0" y="0"/>
                  </a:moveTo>
                  <a:lnTo>
                    <a:pt x="6400800" y="0"/>
                  </a:lnTo>
                  <a:lnTo>
                    <a:pt x="6400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0939" b="-8093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6400800" cy="1019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8"/>
                </a:lnSpc>
              </a:pPr>
              <a:r>
                <a:rPr lang="en-US" sz="3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DenseNet121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070931" y="5222843"/>
            <a:ext cx="2022158" cy="787718"/>
            <a:chOff x="0" y="0"/>
            <a:chExt cx="2696210" cy="105029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696210" cy="1050290"/>
            </a:xfrm>
            <a:custGeom>
              <a:avLst/>
              <a:gdLst/>
              <a:ahLst/>
              <a:cxnLst/>
              <a:rect l="l" t="t" r="r" b="b"/>
              <a:pathLst>
                <a:path w="2696210" h="1050290">
                  <a:moveTo>
                    <a:pt x="0" y="0"/>
                  </a:moveTo>
                  <a:lnTo>
                    <a:pt x="2696210" y="0"/>
                  </a:lnTo>
                  <a:lnTo>
                    <a:pt x="269621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00FF9D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5087600" y="5239512"/>
            <a:ext cx="1988820" cy="754380"/>
            <a:chOff x="0" y="0"/>
            <a:chExt cx="2651760" cy="10058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40">
                  <a:moveTo>
                    <a:pt x="0" y="0"/>
                  </a:moveTo>
                  <a:lnTo>
                    <a:pt x="2651760" y="0"/>
                  </a:lnTo>
                  <a:lnTo>
                    <a:pt x="2651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3" b="-1334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15087600" y="5203793"/>
            <a:ext cx="1988820" cy="790099"/>
            <a:chOff x="0" y="0"/>
            <a:chExt cx="2651760" cy="105346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651760" cy="1053465"/>
            </a:xfrm>
            <a:custGeom>
              <a:avLst/>
              <a:gdLst/>
              <a:ahLst/>
              <a:cxnLst/>
              <a:rect l="l" t="t" r="r" b="b"/>
              <a:pathLst>
                <a:path w="2651760" h="1053465">
                  <a:moveTo>
                    <a:pt x="0" y="0"/>
                  </a:moveTo>
                  <a:lnTo>
                    <a:pt x="2651760" y="0"/>
                  </a:lnTo>
                  <a:lnTo>
                    <a:pt x="2651760" y="1053465"/>
                  </a:lnTo>
                  <a:lnTo>
                    <a:pt x="0" y="10534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1" r="-97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57150"/>
              <a:ext cx="2651760" cy="1110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692640" y="6200775"/>
            <a:ext cx="736092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121-layer densely connected network. Each layer connects to all subsequent layers — maximum feature reuse.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3716000" cy="960120"/>
            <a:chOff x="0" y="0"/>
            <a:chExt cx="182880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3716000" cy="1045845"/>
            <a:chOff x="0" y="0"/>
            <a:chExt cx="182880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394460"/>
            </a:xfrm>
            <a:custGeom>
              <a:avLst/>
              <a:gdLst/>
              <a:ahLst/>
              <a:cxnLst/>
              <a:rect l="l" t="t" r="r" b="b"/>
              <a:pathLst>
                <a:path w="18288000" h="1394460">
                  <a:moveTo>
                    <a:pt x="0" y="0"/>
                  </a:moveTo>
                  <a:lnTo>
                    <a:pt x="18288000" y="0"/>
                  </a:lnTo>
                  <a:lnTo>
                    <a:pt x="182880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5541" b="-2055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182880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Accuracy Comparison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0611" y="6653422"/>
            <a:ext cx="2227898" cy="1867186"/>
            <a:chOff x="0" y="0"/>
            <a:chExt cx="2970530" cy="24895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70530" cy="2489581"/>
            </a:xfrm>
            <a:custGeom>
              <a:avLst/>
              <a:gdLst/>
              <a:ahLst/>
              <a:cxnLst/>
              <a:rect l="l" t="t" r="r" b="b"/>
              <a:pathLst>
                <a:path w="2970530" h="2489581">
                  <a:moveTo>
                    <a:pt x="0" y="0"/>
                  </a:moveTo>
                  <a:lnTo>
                    <a:pt x="2970530" y="0"/>
                  </a:lnTo>
                  <a:lnTo>
                    <a:pt x="2970530" y="2489581"/>
                  </a:lnTo>
                  <a:lnTo>
                    <a:pt x="0" y="2489581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97280" y="6121451"/>
            <a:ext cx="2194560" cy="480060"/>
            <a:chOff x="0" y="0"/>
            <a:chExt cx="2926080" cy="640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6080" cy="640080"/>
            </a:xfrm>
            <a:custGeom>
              <a:avLst/>
              <a:gdLst/>
              <a:ahLst/>
              <a:cxnLst/>
              <a:rect l="l" t="t" r="r" b="b"/>
              <a:pathLst>
                <a:path w="2926080" h="640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11" b="-3901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6085732"/>
            <a:ext cx="2194560" cy="515779"/>
            <a:chOff x="0" y="0"/>
            <a:chExt cx="2926080" cy="6877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26080" cy="687705"/>
            </a:xfrm>
            <a:custGeom>
              <a:avLst/>
              <a:gdLst/>
              <a:ahLst/>
              <a:cxnLst/>
              <a:rect l="l" t="t" r="r" b="b"/>
              <a:pathLst>
                <a:path w="2926080" h="687705">
                  <a:moveTo>
                    <a:pt x="0" y="0"/>
                  </a:moveTo>
                  <a:lnTo>
                    <a:pt x="2926080" y="0"/>
                  </a:lnTo>
                  <a:lnTo>
                    <a:pt x="292608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905" b="-3290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926080" cy="735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81.82%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7280" y="8572500"/>
            <a:ext cx="2194560" cy="548640"/>
            <a:chOff x="0" y="0"/>
            <a:chExt cx="292608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26080" cy="731520"/>
            </a:xfrm>
            <a:custGeom>
              <a:avLst/>
              <a:gdLst/>
              <a:ahLst/>
              <a:cxnLst/>
              <a:rect l="l" t="t" r="r" b="b"/>
              <a:pathLst>
                <a:path w="2926080" h="73152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85" b="-27887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97280" y="8543925"/>
            <a:ext cx="2194560" cy="577215"/>
            <a:chOff x="0" y="0"/>
            <a:chExt cx="2926080" cy="7696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26080" cy="769620"/>
            </a:xfrm>
            <a:custGeom>
              <a:avLst/>
              <a:gdLst/>
              <a:ahLst/>
              <a:cxnLst/>
              <a:rect l="l" t="t" r="r" b="b"/>
              <a:pathLst>
                <a:path w="2926080" h="769620">
                  <a:moveTo>
                    <a:pt x="0" y="0"/>
                  </a:moveTo>
                  <a:lnTo>
                    <a:pt x="2926080" y="0"/>
                  </a:lnTo>
                  <a:lnTo>
                    <a:pt x="2926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081" b="-2408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9260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35291" y="5198840"/>
            <a:ext cx="2227898" cy="3321748"/>
            <a:chOff x="0" y="0"/>
            <a:chExt cx="2970530" cy="44289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970530" cy="4428998"/>
            </a:xfrm>
            <a:custGeom>
              <a:avLst/>
              <a:gdLst/>
              <a:ahLst/>
              <a:cxnLst/>
              <a:rect l="l" t="t" r="r" b="b"/>
              <a:pathLst>
                <a:path w="2970530" h="4428998">
                  <a:moveTo>
                    <a:pt x="0" y="0"/>
                  </a:moveTo>
                  <a:lnTo>
                    <a:pt x="2970530" y="0"/>
                  </a:lnTo>
                  <a:lnTo>
                    <a:pt x="2970530" y="4428998"/>
                  </a:lnTo>
                  <a:lnTo>
                    <a:pt x="0" y="4428998"/>
                  </a:lnTo>
                  <a:close/>
                </a:path>
              </a:pathLst>
            </a:custGeom>
            <a:solidFill>
              <a:srgbClr val="7B2FBE"/>
            </a:solidFill>
            <a:ln w="1905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251960" y="4666869"/>
            <a:ext cx="2194560" cy="480060"/>
            <a:chOff x="0" y="0"/>
            <a:chExt cx="2926080" cy="6400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26080" cy="640080"/>
            </a:xfrm>
            <a:custGeom>
              <a:avLst/>
              <a:gdLst/>
              <a:ahLst/>
              <a:cxnLst/>
              <a:rect l="l" t="t" r="r" b="b"/>
              <a:pathLst>
                <a:path w="2926080" h="640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11" b="-39013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4251960" y="4631150"/>
            <a:ext cx="2194560" cy="515779"/>
            <a:chOff x="0" y="0"/>
            <a:chExt cx="2926080" cy="6877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26080" cy="687705"/>
            </a:xfrm>
            <a:custGeom>
              <a:avLst/>
              <a:gdLst/>
              <a:ahLst/>
              <a:cxnLst/>
              <a:rect l="l" t="t" r="r" b="b"/>
              <a:pathLst>
                <a:path w="2926080" h="687705">
                  <a:moveTo>
                    <a:pt x="0" y="0"/>
                  </a:moveTo>
                  <a:lnTo>
                    <a:pt x="2926080" y="0"/>
                  </a:lnTo>
                  <a:lnTo>
                    <a:pt x="292608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905" b="-3290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926080" cy="735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51960" y="8572500"/>
            <a:ext cx="2194560" cy="548640"/>
            <a:chOff x="0" y="0"/>
            <a:chExt cx="292608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26080" cy="731520"/>
            </a:xfrm>
            <a:custGeom>
              <a:avLst/>
              <a:gdLst/>
              <a:ahLst/>
              <a:cxnLst/>
              <a:rect l="l" t="t" r="r" b="b"/>
              <a:pathLst>
                <a:path w="2926080" h="73152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85" b="-27887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4251960" y="8543925"/>
            <a:ext cx="2194560" cy="577215"/>
            <a:chOff x="0" y="0"/>
            <a:chExt cx="2926080" cy="7696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26080" cy="769620"/>
            </a:xfrm>
            <a:custGeom>
              <a:avLst/>
              <a:gdLst/>
              <a:ahLst/>
              <a:cxnLst/>
              <a:rect l="l" t="t" r="r" b="b"/>
              <a:pathLst>
                <a:path w="2926080" h="769620">
                  <a:moveTo>
                    <a:pt x="0" y="0"/>
                  </a:moveTo>
                  <a:lnTo>
                    <a:pt x="2926080" y="0"/>
                  </a:lnTo>
                  <a:lnTo>
                    <a:pt x="2926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081" b="-2408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9260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VGG16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89971" y="7383113"/>
            <a:ext cx="2227898" cy="1137476"/>
            <a:chOff x="0" y="0"/>
            <a:chExt cx="2970530" cy="1516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70530" cy="1516634"/>
            </a:xfrm>
            <a:custGeom>
              <a:avLst/>
              <a:gdLst/>
              <a:ahLst/>
              <a:cxnLst/>
              <a:rect l="l" t="t" r="r" b="b"/>
              <a:pathLst>
                <a:path w="2970530" h="1516634">
                  <a:moveTo>
                    <a:pt x="0" y="0"/>
                  </a:moveTo>
                  <a:lnTo>
                    <a:pt x="2970530" y="0"/>
                  </a:lnTo>
                  <a:lnTo>
                    <a:pt x="2970530" y="1516634"/>
                  </a:lnTo>
                  <a:lnTo>
                    <a:pt x="0" y="1516634"/>
                  </a:lnTo>
                  <a:close/>
                </a:path>
              </a:pathLst>
            </a:custGeom>
            <a:solidFill>
              <a:srgbClr val="F44336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406640" y="6851142"/>
            <a:ext cx="2194560" cy="480060"/>
            <a:chOff x="0" y="0"/>
            <a:chExt cx="2926080" cy="640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926080" cy="640080"/>
            </a:xfrm>
            <a:custGeom>
              <a:avLst/>
              <a:gdLst/>
              <a:ahLst/>
              <a:cxnLst/>
              <a:rect l="l" t="t" r="r" b="b"/>
              <a:pathLst>
                <a:path w="2926080" h="640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11" b="-39013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7406640" y="6815423"/>
            <a:ext cx="2194560" cy="515779"/>
            <a:chOff x="0" y="0"/>
            <a:chExt cx="2926080" cy="68770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26080" cy="687705"/>
            </a:xfrm>
            <a:custGeom>
              <a:avLst/>
              <a:gdLst/>
              <a:ahLst/>
              <a:cxnLst/>
              <a:rect l="l" t="t" r="r" b="b"/>
              <a:pathLst>
                <a:path w="2926080" h="687705">
                  <a:moveTo>
                    <a:pt x="0" y="0"/>
                  </a:moveTo>
                  <a:lnTo>
                    <a:pt x="2926080" y="0"/>
                  </a:lnTo>
                  <a:lnTo>
                    <a:pt x="292608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905" b="-3290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2926080" cy="735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80.3%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06640" y="8572500"/>
            <a:ext cx="2194560" cy="548640"/>
            <a:chOff x="0" y="0"/>
            <a:chExt cx="292608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926080" cy="731520"/>
            </a:xfrm>
            <a:custGeom>
              <a:avLst/>
              <a:gdLst/>
              <a:ahLst/>
              <a:cxnLst/>
              <a:rect l="l" t="t" r="r" b="b"/>
              <a:pathLst>
                <a:path w="2926080" h="73152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85" b="-27887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7406640" y="8543925"/>
            <a:ext cx="2194560" cy="577215"/>
            <a:chOff x="0" y="0"/>
            <a:chExt cx="2926080" cy="7696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26080" cy="769620"/>
            </a:xfrm>
            <a:custGeom>
              <a:avLst/>
              <a:gdLst/>
              <a:ahLst/>
              <a:cxnLst/>
              <a:rect l="l" t="t" r="r" b="b"/>
              <a:pathLst>
                <a:path w="2926080" h="769620">
                  <a:moveTo>
                    <a:pt x="0" y="0"/>
                  </a:moveTo>
                  <a:lnTo>
                    <a:pt x="2926080" y="0"/>
                  </a:lnTo>
                  <a:lnTo>
                    <a:pt x="2926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081" b="-2408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9260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ResNet50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544651" y="5198840"/>
            <a:ext cx="2227898" cy="3321748"/>
            <a:chOff x="0" y="0"/>
            <a:chExt cx="2970530" cy="442899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70530" cy="4428998"/>
            </a:xfrm>
            <a:custGeom>
              <a:avLst/>
              <a:gdLst/>
              <a:ahLst/>
              <a:cxnLst/>
              <a:rect l="l" t="t" r="r" b="b"/>
              <a:pathLst>
                <a:path w="2970530" h="4428998">
                  <a:moveTo>
                    <a:pt x="0" y="0"/>
                  </a:moveTo>
                  <a:lnTo>
                    <a:pt x="2970530" y="0"/>
                  </a:lnTo>
                  <a:lnTo>
                    <a:pt x="2970530" y="4428998"/>
                  </a:lnTo>
                  <a:lnTo>
                    <a:pt x="0" y="4428998"/>
                  </a:lnTo>
                  <a:close/>
                </a:path>
              </a:pathLst>
            </a:custGeom>
            <a:solidFill>
              <a:srgbClr val="00FF9D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561320" y="4666869"/>
            <a:ext cx="2194560" cy="480060"/>
            <a:chOff x="0" y="0"/>
            <a:chExt cx="2926080" cy="6400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926080" cy="640080"/>
            </a:xfrm>
            <a:custGeom>
              <a:avLst/>
              <a:gdLst/>
              <a:ahLst/>
              <a:cxnLst/>
              <a:rect l="l" t="t" r="r" b="b"/>
              <a:pathLst>
                <a:path w="2926080" h="640080">
                  <a:moveTo>
                    <a:pt x="0" y="0"/>
                  </a:moveTo>
                  <a:lnTo>
                    <a:pt x="2926080" y="0"/>
                  </a:lnTo>
                  <a:lnTo>
                    <a:pt x="2926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11" b="-39013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0561320" y="4631150"/>
            <a:ext cx="2194560" cy="515779"/>
            <a:chOff x="0" y="0"/>
            <a:chExt cx="2926080" cy="6877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926080" cy="687705"/>
            </a:xfrm>
            <a:custGeom>
              <a:avLst/>
              <a:gdLst/>
              <a:ahLst/>
              <a:cxnLst/>
              <a:rect l="l" t="t" r="r" b="b"/>
              <a:pathLst>
                <a:path w="2926080" h="687705">
                  <a:moveTo>
                    <a:pt x="0" y="0"/>
                  </a:moveTo>
                  <a:lnTo>
                    <a:pt x="2926080" y="0"/>
                  </a:lnTo>
                  <a:lnTo>
                    <a:pt x="292608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905" b="-3290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2926080" cy="735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61320" y="8572500"/>
            <a:ext cx="2194560" cy="548640"/>
            <a:chOff x="0" y="0"/>
            <a:chExt cx="292608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26080" cy="731520"/>
            </a:xfrm>
            <a:custGeom>
              <a:avLst/>
              <a:gdLst/>
              <a:ahLst/>
              <a:cxnLst/>
              <a:rect l="l" t="t" r="r" b="b"/>
              <a:pathLst>
                <a:path w="2926080" h="73152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85" b="-27887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0561320" y="8543925"/>
            <a:ext cx="2194560" cy="577215"/>
            <a:chOff x="0" y="0"/>
            <a:chExt cx="2926080" cy="7696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926080" cy="769620"/>
            </a:xfrm>
            <a:custGeom>
              <a:avLst/>
              <a:gdLst/>
              <a:ahLst/>
              <a:cxnLst/>
              <a:rect l="l" t="t" r="r" b="b"/>
              <a:pathLst>
                <a:path w="2926080" h="769620">
                  <a:moveTo>
                    <a:pt x="0" y="0"/>
                  </a:moveTo>
                  <a:lnTo>
                    <a:pt x="2926080" y="0"/>
                  </a:lnTo>
                  <a:lnTo>
                    <a:pt x="2926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081" b="-24081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29260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DenseNet121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43451" y="8487251"/>
            <a:ext cx="12377738" cy="74486"/>
            <a:chOff x="0" y="0"/>
            <a:chExt cx="16503650" cy="9931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6503650" cy="99314"/>
            </a:xfrm>
            <a:custGeom>
              <a:avLst/>
              <a:gdLst/>
              <a:ahLst/>
              <a:cxnLst/>
              <a:rect l="l" t="t" r="r" b="b"/>
              <a:pathLst>
                <a:path w="16503650" h="99314">
                  <a:moveTo>
                    <a:pt x="0" y="0"/>
                  </a:moveTo>
                  <a:lnTo>
                    <a:pt x="16503650" y="0"/>
                  </a:lnTo>
                  <a:lnTo>
                    <a:pt x="16503650" y="99314"/>
                  </a:lnTo>
                  <a:lnTo>
                    <a:pt x="0" y="99314"/>
                  </a:lnTo>
                  <a:close/>
                </a:path>
              </a:pathLst>
            </a:custGeom>
            <a:solidFill>
              <a:srgbClr val="A0B4C8"/>
            </a:solidFill>
            <a:ln w="19050" cap="sq">
              <a:solidFill>
                <a:srgbClr val="A0B4C8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3013531" y="1492091"/>
            <a:ext cx="4559618" cy="7577138"/>
            <a:chOff x="0" y="0"/>
            <a:chExt cx="6079490" cy="101028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079490" cy="10102850"/>
            </a:xfrm>
            <a:custGeom>
              <a:avLst/>
              <a:gdLst/>
              <a:ahLst/>
              <a:cxnLst/>
              <a:rect l="l" t="t" r="r" b="b"/>
              <a:pathLst>
                <a:path w="6079490" h="10102850">
                  <a:moveTo>
                    <a:pt x="0" y="0"/>
                  </a:moveTo>
                  <a:lnTo>
                    <a:pt x="6079490" y="0"/>
                  </a:lnTo>
                  <a:lnTo>
                    <a:pt x="6079490" y="10102850"/>
                  </a:lnTo>
                  <a:lnTo>
                    <a:pt x="0" y="101028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3030200" y="1645920"/>
            <a:ext cx="4526280" cy="685800"/>
            <a:chOff x="0" y="0"/>
            <a:chExt cx="6035040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35040" cy="914400"/>
            </a:xfrm>
            <a:custGeom>
              <a:avLst/>
              <a:gdLst/>
              <a:ahLst/>
              <a:cxnLst/>
              <a:rect l="l" t="t" r="r" b="b"/>
              <a:pathLst>
                <a:path w="6035040" h="91440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12" b="-78511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3030200" y="1603058"/>
            <a:ext cx="4526280" cy="728662"/>
            <a:chOff x="0" y="0"/>
            <a:chExt cx="6035040" cy="97155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035040" cy="971550"/>
            </a:xfrm>
            <a:custGeom>
              <a:avLst/>
              <a:gdLst/>
              <a:ahLst/>
              <a:cxnLst/>
              <a:rect l="l" t="t" r="r" b="b"/>
              <a:pathLst>
                <a:path w="6035040" h="971550">
                  <a:moveTo>
                    <a:pt x="0" y="0"/>
                  </a:moveTo>
                  <a:lnTo>
                    <a:pt x="6035040" y="0"/>
                  </a:lnTo>
                  <a:lnTo>
                    <a:pt x="6035040" y="971550"/>
                  </a:lnTo>
                  <a:lnTo>
                    <a:pt x="0" y="9715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1036" b="-7103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603504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Models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287851" y="2520791"/>
            <a:ext cx="4010978" cy="2227898"/>
            <a:chOff x="0" y="0"/>
            <a:chExt cx="5347970" cy="297053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47970" cy="2970530"/>
            </a:xfrm>
            <a:custGeom>
              <a:avLst/>
              <a:gdLst/>
              <a:ahLst/>
              <a:cxnLst/>
              <a:rect l="l" t="t" r="r" b="b"/>
              <a:pathLst>
                <a:path w="5347970" h="2970530">
                  <a:moveTo>
                    <a:pt x="0" y="0"/>
                  </a:moveTo>
                  <a:lnTo>
                    <a:pt x="5347970" y="0"/>
                  </a:lnTo>
                  <a:lnTo>
                    <a:pt x="53479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7B2FBE"/>
            </a:solidFill>
            <a:ln w="1905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3304520" y="2537460"/>
            <a:ext cx="3977640" cy="2194560"/>
            <a:chOff x="0" y="0"/>
            <a:chExt cx="5303520" cy="29260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303520" cy="2926080"/>
            </a:xfrm>
            <a:custGeom>
              <a:avLst/>
              <a:gdLst/>
              <a:ahLst/>
              <a:cxnLst/>
              <a:rect l="l" t="t" r="r" b="b"/>
              <a:pathLst>
                <a:path w="5303520" h="2926080">
                  <a:moveTo>
                    <a:pt x="0" y="0"/>
                  </a:moveTo>
                  <a:lnTo>
                    <a:pt x="5303520" y="0"/>
                  </a:lnTo>
                  <a:lnTo>
                    <a:pt x="5303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37" r="-20837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3304520" y="2494598"/>
            <a:ext cx="3977640" cy="2237422"/>
            <a:chOff x="0" y="0"/>
            <a:chExt cx="5303520" cy="298323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303520" cy="2983230"/>
            </a:xfrm>
            <a:custGeom>
              <a:avLst/>
              <a:gdLst/>
              <a:ahLst/>
              <a:cxnLst/>
              <a:rect l="l" t="t" r="r" b="b"/>
              <a:pathLst>
                <a:path w="5303520" h="2983230">
                  <a:moveTo>
                    <a:pt x="0" y="0"/>
                  </a:moveTo>
                  <a:lnTo>
                    <a:pt x="5303520" y="0"/>
                  </a:lnTo>
                  <a:lnTo>
                    <a:pt x="5303520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170" r="-2217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0"/>
              <a:ext cx="5303520" cy="3078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79"/>
                </a:lnSpc>
              </a:pPr>
              <a:r>
                <a:rPr lang="en-US" sz="439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VGG16</a:t>
              </a:r>
            </a:p>
            <a:p>
              <a:pPr algn="ctr">
                <a:lnSpc>
                  <a:spcPts val="5279"/>
                </a:lnSpc>
              </a:pPr>
              <a:r>
                <a:rPr lang="en-US" sz="439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287851" y="4989671"/>
            <a:ext cx="4010978" cy="2227898"/>
            <a:chOff x="0" y="0"/>
            <a:chExt cx="5347970" cy="297053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347970" cy="2970530"/>
            </a:xfrm>
            <a:custGeom>
              <a:avLst/>
              <a:gdLst/>
              <a:ahLst/>
              <a:cxnLst/>
              <a:rect l="l" t="t" r="r" b="b"/>
              <a:pathLst>
                <a:path w="5347970" h="2970530">
                  <a:moveTo>
                    <a:pt x="0" y="0"/>
                  </a:moveTo>
                  <a:lnTo>
                    <a:pt x="5347970" y="0"/>
                  </a:lnTo>
                  <a:lnTo>
                    <a:pt x="534797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00604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3304520" y="5006340"/>
            <a:ext cx="3977640" cy="2194560"/>
            <a:chOff x="0" y="0"/>
            <a:chExt cx="5303520" cy="29260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303520" cy="2926080"/>
            </a:xfrm>
            <a:custGeom>
              <a:avLst/>
              <a:gdLst/>
              <a:ahLst/>
              <a:cxnLst/>
              <a:rect l="l" t="t" r="r" b="b"/>
              <a:pathLst>
                <a:path w="5303520" h="2926080">
                  <a:moveTo>
                    <a:pt x="0" y="0"/>
                  </a:moveTo>
                  <a:lnTo>
                    <a:pt x="5303520" y="0"/>
                  </a:lnTo>
                  <a:lnTo>
                    <a:pt x="5303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37" r="-20837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3304520" y="4963478"/>
            <a:ext cx="3977640" cy="2237422"/>
            <a:chOff x="0" y="0"/>
            <a:chExt cx="5303520" cy="298323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303520" cy="2983230"/>
            </a:xfrm>
            <a:custGeom>
              <a:avLst/>
              <a:gdLst/>
              <a:ahLst/>
              <a:cxnLst/>
              <a:rect l="l" t="t" r="r" b="b"/>
              <a:pathLst>
                <a:path w="5303520" h="2983230">
                  <a:moveTo>
                    <a:pt x="0" y="0"/>
                  </a:moveTo>
                  <a:lnTo>
                    <a:pt x="5303520" y="0"/>
                  </a:lnTo>
                  <a:lnTo>
                    <a:pt x="5303520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170" r="-2217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5303520" cy="3078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79"/>
                </a:lnSpc>
              </a:pPr>
              <a:r>
                <a:rPr lang="en-US" sz="439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DenseNet121</a:t>
              </a:r>
            </a:p>
            <a:p>
              <a:pPr algn="ctr">
                <a:lnSpc>
                  <a:spcPts val="5279"/>
                </a:lnSpc>
              </a:pPr>
              <a:r>
                <a:rPr lang="en-US" sz="439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030200" y="7406640"/>
            <a:ext cx="4526280" cy="1165860"/>
            <a:chOff x="0" y="0"/>
            <a:chExt cx="6035040" cy="15544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035040" cy="1554480"/>
            </a:xfrm>
            <a:custGeom>
              <a:avLst/>
              <a:gdLst/>
              <a:ahLst/>
              <a:cxnLst/>
              <a:rect l="l" t="t" r="r" b="b"/>
              <a:pathLst>
                <a:path w="6035040" h="1554480">
                  <a:moveTo>
                    <a:pt x="0" y="0"/>
                  </a:moveTo>
                  <a:lnTo>
                    <a:pt x="6035040" y="0"/>
                  </a:lnTo>
                  <a:lnTo>
                    <a:pt x="60350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595" b="-25594"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13030200" y="7378065"/>
            <a:ext cx="4526280" cy="1194435"/>
            <a:chOff x="0" y="0"/>
            <a:chExt cx="6035040" cy="15925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035040" cy="1592580"/>
            </a:xfrm>
            <a:custGeom>
              <a:avLst/>
              <a:gdLst/>
              <a:ahLst/>
              <a:cxnLst/>
              <a:rect l="l" t="t" r="r" b="b"/>
              <a:pathLst>
                <a:path w="6035040" h="1592580">
                  <a:moveTo>
                    <a:pt x="0" y="0"/>
                  </a:moveTo>
                  <a:lnTo>
                    <a:pt x="6035040" y="0"/>
                  </a:lnTo>
                  <a:lnTo>
                    <a:pt x="6035040" y="1592580"/>
                  </a:lnTo>
                  <a:lnTo>
                    <a:pt x="0" y="1592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838" b="-23838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0350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tied at 84.85%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VGG16 chosen as final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model by max()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6459200" cy="960120"/>
            <a:chOff x="0" y="0"/>
            <a:chExt cx="219456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280160"/>
            </a:xfrm>
            <a:custGeom>
              <a:avLst/>
              <a:gdLst/>
              <a:ahLst/>
              <a:cxnLst/>
              <a:rect l="l" t="t" r="r" b="b"/>
              <a:pathLst>
                <a:path w="21945600" h="128016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796" b="-28379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6459200" cy="1045845"/>
            <a:chOff x="0" y="0"/>
            <a:chExt cx="219456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394460"/>
            </a:xfrm>
            <a:custGeom>
              <a:avLst/>
              <a:gdLst/>
              <a:ahLst/>
              <a:cxnLst/>
              <a:rect l="l" t="t" r="r" b="b"/>
              <a:pathLst>
                <a:path w="21945600" h="1394460">
                  <a:moveTo>
                    <a:pt x="0" y="0"/>
                  </a:moveTo>
                  <a:lnTo>
                    <a:pt x="21945600" y="0"/>
                  </a:lnTo>
                  <a:lnTo>
                    <a:pt x="219456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6649" b="-25664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19456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  Best Model — VGG16 Results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440180"/>
            <a:ext cx="8229600" cy="548640"/>
            <a:chOff x="0" y="0"/>
            <a:chExt cx="1097280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85800" y="1404461"/>
            <a:ext cx="8229600" cy="584359"/>
            <a:chOff x="0" y="0"/>
            <a:chExt cx="10972800" cy="7791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779145"/>
            </a:xfrm>
            <a:custGeom>
              <a:avLst/>
              <a:gdLst/>
              <a:ahLst/>
              <a:cxnLst/>
              <a:rect l="l" t="t" r="r" b="b"/>
              <a:pathLst>
                <a:path w="10972800" h="779145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410" b="-22441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Accuracy Progression (5 Epochs)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3451" y="3467195"/>
            <a:ext cx="1062038" cy="2995994"/>
            <a:chOff x="0" y="0"/>
            <a:chExt cx="1416050" cy="39946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16050" cy="3994658"/>
            </a:xfrm>
            <a:custGeom>
              <a:avLst/>
              <a:gdLst/>
              <a:ahLst/>
              <a:cxnLst/>
              <a:rect l="l" t="t" r="r" b="b"/>
              <a:pathLst>
                <a:path w="1416050" h="3994658">
                  <a:moveTo>
                    <a:pt x="0" y="0"/>
                  </a:moveTo>
                  <a:lnTo>
                    <a:pt x="1416050" y="0"/>
                  </a:lnTo>
                  <a:lnTo>
                    <a:pt x="1416050" y="3994658"/>
                  </a:lnTo>
                  <a:lnTo>
                    <a:pt x="0" y="3994658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60120" y="3003804"/>
            <a:ext cx="1028700" cy="411480"/>
            <a:chOff x="0" y="0"/>
            <a:chExt cx="13716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60120" y="2975229"/>
            <a:ext cx="1028700" cy="440055"/>
            <a:chOff x="0" y="0"/>
            <a:chExt cx="1371600" cy="5867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B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0120" y="6515100"/>
            <a:ext cx="1028700" cy="411480"/>
            <a:chOff x="0" y="0"/>
            <a:chExt cx="137160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60120" y="6486525"/>
            <a:ext cx="1028700" cy="440055"/>
            <a:chOff x="0" y="0"/>
            <a:chExt cx="1371600" cy="5867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 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452211" y="3220307"/>
            <a:ext cx="1062038" cy="3242881"/>
            <a:chOff x="0" y="0"/>
            <a:chExt cx="1416050" cy="43238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16050" cy="4323842"/>
            </a:xfrm>
            <a:custGeom>
              <a:avLst/>
              <a:gdLst/>
              <a:ahLst/>
              <a:cxnLst/>
              <a:rect l="l" t="t" r="r" b="b"/>
              <a:pathLst>
                <a:path w="1416050" h="4323842">
                  <a:moveTo>
                    <a:pt x="0" y="0"/>
                  </a:moveTo>
                  <a:lnTo>
                    <a:pt x="1416050" y="0"/>
                  </a:lnTo>
                  <a:lnTo>
                    <a:pt x="1416050" y="4323842"/>
                  </a:lnTo>
                  <a:lnTo>
                    <a:pt x="0" y="4323842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2468880" y="2756916"/>
            <a:ext cx="1028700" cy="411480"/>
            <a:chOff x="0" y="0"/>
            <a:chExt cx="1371600" cy="548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2468880" y="2728341"/>
            <a:ext cx="1028700" cy="440055"/>
            <a:chOff x="0" y="0"/>
            <a:chExt cx="1371600" cy="5867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B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78%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68880" y="6515100"/>
            <a:ext cx="1028700" cy="411480"/>
            <a:chOff x="0" y="0"/>
            <a:chExt cx="13716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2468880" y="6486525"/>
            <a:ext cx="1028700" cy="440055"/>
            <a:chOff x="0" y="0"/>
            <a:chExt cx="1371600" cy="5867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 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960971" y="3096863"/>
            <a:ext cx="1062038" cy="3366326"/>
            <a:chOff x="0" y="0"/>
            <a:chExt cx="1416050" cy="448843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16050" cy="4488434"/>
            </a:xfrm>
            <a:custGeom>
              <a:avLst/>
              <a:gdLst/>
              <a:ahLst/>
              <a:cxnLst/>
              <a:rect l="l" t="t" r="r" b="b"/>
              <a:pathLst>
                <a:path w="1416050" h="4488434">
                  <a:moveTo>
                    <a:pt x="0" y="0"/>
                  </a:moveTo>
                  <a:lnTo>
                    <a:pt x="1416050" y="0"/>
                  </a:lnTo>
                  <a:lnTo>
                    <a:pt x="1416050" y="4488434"/>
                  </a:lnTo>
                  <a:lnTo>
                    <a:pt x="0" y="4488434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977640" y="2633472"/>
            <a:ext cx="1028700" cy="411480"/>
            <a:chOff x="0" y="0"/>
            <a:chExt cx="1371600" cy="5486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977640" y="2604897"/>
            <a:ext cx="1028700" cy="440055"/>
            <a:chOff x="0" y="0"/>
            <a:chExt cx="1371600" cy="5867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B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81%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977640" y="6515100"/>
            <a:ext cx="1028700" cy="411480"/>
            <a:chOff x="0" y="0"/>
            <a:chExt cx="1371600" cy="5486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3977640" y="6486525"/>
            <a:ext cx="1028700" cy="440055"/>
            <a:chOff x="0" y="0"/>
            <a:chExt cx="1371600" cy="5867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 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69731" y="3014567"/>
            <a:ext cx="1062038" cy="3448622"/>
            <a:chOff x="0" y="0"/>
            <a:chExt cx="1416050" cy="459816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16050" cy="4598162"/>
            </a:xfrm>
            <a:custGeom>
              <a:avLst/>
              <a:gdLst/>
              <a:ahLst/>
              <a:cxnLst/>
              <a:rect l="l" t="t" r="r" b="b"/>
              <a:pathLst>
                <a:path w="1416050" h="4598162">
                  <a:moveTo>
                    <a:pt x="0" y="0"/>
                  </a:moveTo>
                  <a:lnTo>
                    <a:pt x="1416050" y="0"/>
                  </a:lnTo>
                  <a:lnTo>
                    <a:pt x="1416050" y="4598162"/>
                  </a:lnTo>
                  <a:lnTo>
                    <a:pt x="0" y="4598162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486400" y="2551176"/>
            <a:ext cx="1028700" cy="411480"/>
            <a:chOff x="0" y="0"/>
            <a:chExt cx="137160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5486400" y="2522601"/>
            <a:ext cx="1028700" cy="440055"/>
            <a:chOff x="0" y="0"/>
            <a:chExt cx="1371600" cy="5867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B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83%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86400" y="6515100"/>
            <a:ext cx="1028700" cy="411480"/>
            <a:chOff x="0" y="0"/>
            <a:chExt cx="1371600" cy="548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5486400" y="6486525"/>
            <a:ext cx="1028700" cy="440055"/>
            <a:chOff x="0" y="0"/>
            <a:chExt cx="1371600" cy="5867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 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978491" y="2938443"/>
            <a:ext cx="1062038" cy="3524726"/>
            <a:chOff x="0" y="0"/>
            <a:chExt cx="1416050" cy="469963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16050" cy="4699635"/>
            </a:xfrm>
            <a:custGeom>
              <a:avLst/>
              <a:gdLst/>
              <a:ahLst/>
              <a:cxnLst/>
              <a:rect l="l" t="t" r="r" b="b"/>
              <a:pathLst>
                <a:path w="1416050" h="4699635">
                  <a:moveTo>
                    <a:pt x="0" y="0"/>
                  </a:moveTo>
                  <a:lnTo>
                    <a:pt x="1416050" y="0"/>
                  </a:lnTo>
                  <a:lnTo>
                    <a:pt x="1416050" y="4699635"/>
                  </a:lnTo>
                  <a:lnTo>
                    <a:pt x="0" y="4699635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995160" y="2475052"/>
            <a:ext cx="1028700" cy="411480"/>
            <a:chOff x="0" y="0"/>
            <a:chExt cx="1371600" cy="5486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6995160" y="2446477"/>
            <a:ext cx="1028700" cy="440055"/>
            <a:chOff x="0" y="0"/>
            <a:chExt cx="1371600" cy="5867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B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85%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995160" y="6515100"/>
            <a:ext cx="1028700" cy="411480"/>
            <a:chOff x="0" y="0"/>
            <a:chExt cx="137160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371600" cy="548640"/>
            </a:xfrm>
            <a:custGeom>
              <a:avLst/>
              <a:gdLst/>
              <a:ahLst/>
              <a:cxnLst/>
              <a:rect l="l" t="t" r="r" b="b"/>
              <a:pathLst>
                <a:path w="1371600" h="54864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" r="-1356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6995160" y="6486525"/>
            <a:ext cx="1028700" cy="440055"/>
            <a:chOff x="0" y="0"/>
            <a:chExt cx="1371600" cy="5867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371600" cy="586740"/>
            </a:xfrm>
            <a:custGeom>
              <a:avLst/>
              <a:gdLst/>
              <a:ahLst/>
              <a:cxnLst/>
              <a:rect l="l" t="t" r="r" b="b"/>
              <a:pathLst>
                <a:path w="1371600" h="586740">
                  <a:moveTo>
                    <a:pt x="0" y="0"/>
                  </a:moveTo>
                  <a:lnTo>
                    <a:pt x="1371600" y="0"/>
                  </a:lnTo>
                  <a:lnTo>
                    <a:pt x="1371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85" r="-488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3716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 5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6291" y="6457283"/>
            <a:ext cx="8262938" cy="74486"/>
            <a:chOff x="0" y="0"/>
            <a:chExt cx="11017250" cy="9931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017250" cy="99314"/>
            </a:xfrm>
            <a:custGeom>
              <a:avLst/>
              <a:gdLst/>
              <a:ahLst/>
              <a:cxnLst/>
              <a:rect l="l" t="t" r="r" b="b"/>
              <a:pathLst>
                <a:path w="11017250" h="99314">
                  <a:moveTo>
                    <a:pt x="0" y="0"/>
                  </a:moveTo>
                  <a:lnTo>
                    <a:pt x="11017250" y="0"/>
                  </a:lnTo>
                  <a:lnTo>
                    <a:pt x="11017250" y="99314"/>
                  </a:lnTo>
                  <a:lnTo>
                    <a:pt x="0" y="99314"/>
                  </a:lnTo>
                  <a:close/>
                </a:path>
              </a:pathLst>
            </a:custGeom>
            <a:solidFill>
              <a:srgbClr val="A0B4C8"/>
            </a:solidFill>
            <a:ln w="19050" cap="sq">
              <a:solidFill>
                <a:srgbClr val="A0B4C8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10287000" y="1440180"/>
            <a:ext cx="7543800" cy="548640"/>
            <a:chOff x="0" y="0"/>
            <a:chExt cx="1005840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058400" cy="731520"/>
            </a:xfrm>
            <a:custGeom>
              <a:avLst/>
              <a:gdLst/>
              <a:ahLst/>
              <a:cxnLst/>
              <a:rect l="l" t="t" r="r" b="b"/>
              <a:pathLst>
                <a:path w="10058400" h="73152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732" b="-217732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0287000" y="1404461"/>
            <a:ext cx="7543800" cy="584359"/>
            <a:chOff x="0" y="0"/>
            <a:chExt cx="10058400" cy="77914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058400" cy="779145"/>
            </a:xfrm>
            <a:custGeom>
              <a:avLst/>
              <a:gdLst/>
              <a:ahLst/>
              <a:cxnLst/>
              <a:rect l="l" t="t" r="r" b="b"/>
              <a:pathLst>
                <a:path w="10058400" h="779145">
                  <a:moveTo>
                    <a:pt x="0" y="0"/>
                  </a:moveTo>
                  <a:lnTo>
                    <a:pt x="10058400" y="0"/>
                  </a:lnTo>
                  <a:lnTo>
                    <a:pt x="100584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542" b="-201542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100584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Performance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87000" y="2125980"/>
            <a:ext cx="1783080" cy="548640"/>
            <a:chOff x="0" y="0"/>
            <a:chExt cx="2377440" cy="7315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0287000" y="2097405"/>
            <a:ext cx="1783080" cy="577215"/>
            <a:chOff x="0" y="0"/>
            <a:chExt cx="2377440" cy="7696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377440" cy="769620"/>
            </a:xfrm>
            <a:custGeom>
              <a:avLst/>
              <a:gdLst/>
              <a:ahLst/>
              <a:cxnLst/>
              <a:rect l="l" t="t" r="r" b="b"/>
              <a:pathLst>
                <a:path w="2377440" h="769620">
                  <a:moveTo>
                    <a:pt x="0" y="0"/>
                  </a:moveTo>
                  <a:lnTo>
                    <a:pt x="2377440" y="0"/>
                  </a:lnTo>
                  <a:lnTo>
                    <a:pt x="2377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91" b="-10191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237744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138660" y="2125980"/>
            <a:ext cx="1783080" cy="548640"/>
            <a:chOff x="0" y="0"/>
            <a:chExt cx="2377440" cy="7315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2138660" y="2097405"/>
            <a:ext cx="1783080" cy="577215"/>
            <a:chOff x="0" y="0"/>
            <a:chExt cx="2377440" cy="7696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377440" cy="769620"/>
            </a:xfrm>
            <a:custGeom>
              <a:avLst/>
              <a:gdLst/>
              <a:ahLst/>
              <a:cxnLst/>
              <a:rect l="l" t="t" r="r" b="b"/>
              <a:pathLst>
                <a:path w="2377440" h="769620">
                  <a:moveTo>
                    <a:pt x="0" y="0"/>
                  </a:moveTo>
                  <a:lnTo>
                    <a:pt x="2377440" y="0"/>
                  </a:lnTo>
                  <a:lnTo>
                    <a:pt x="2377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91" b="-1019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37744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3990320" y="2125980"/>
            <a:ext cx="1783080" cy="548640"/>
            <a:chOff x="0" y="0"/>
            <a:chExt cx="2377440" cy="7315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13990320" y="2097405"/>
            <a:ext cx="1783080" cy="577215"/>
            <a:chOff x="0" y="0"/>
            <a:chExt cx="2377440" cy="7696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377440" cy="769620"/>
            </a:xfrm>
            <a:custGeom>
              <a:avLst/>
              <a:gdLst/>
              <a:ahLst/>
              <a:cxnLst/>
              <a:rect l="l" t="t" r="r" b="b"/>
              <a:pathLst>
                <a:path w="2377440" h="769620">
                  <a:moveTo>
                    <a:pt x="0" y="0"/>
                  </a:moveTo>
                  <a:lnTo>
                    <a:pt x="2377440" y="0"/>
                  </a:lnTo>
                  <a:lnTo>
                    <a:pt x="2377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91" b="-10191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237744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5841980" y="2125980"/>
            <a:ext cx="1783080" cy="548640"/>
            <a:chOff x="0" y="0"/>
            <a:chExt cx="2377440" cy="73152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15841980" y="2097405"/>
            <a:ext cx="1783080" cy="577215"/>
            <a:chOff x="0" y="0"/>
            <a:chExt cx="2377440" cy="7696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377440" cy="769620"/>
            </a:xfrm>
            <a:custGeom>
              <a:avLst/>
              <a:gdLst/>
              <a:ahLst/>
              <a:cxnLst/>
              <a:rect l="l" t="t" r="r" b="b"/>
              <a:pathLst>
                <a:path w="2377440" h="769620">
                  <a:moveTo>
                    <a:pt x="0" y="0"/>
                  </a:moveTo>
                  <a:lnTo>
                    <a:pt x="2377440" y="0"/>
                  </a:lnTo>
                  <a:lnTo>
                    <a:pt x="2377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91" b="-10191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237744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201751" y="2795111"/>
            <a:ext cx="7577138" cy="1062038"/>
            <a:chOff x="0" y="0"/>
            <a:chExt cx="10102850" cy="141605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102850" cy="1416050"/>
            </a:xfrm>
            <a:custGeom>
              <a:avLst/>
              <a:gdLst/>
              <a:ahLst/>
              <a:cxnLst/>
              <a:rect l="l" t="t" r="r" b="b"/>
              <a:pathLst>
                <a:path w="10102850" h="1416050">
                  <a:moveTo>
                    <a:pt x="0" y="0"/>
                  </a:moveTo>
                  <a:lnTo>
                    <a:pt x="10102850" y="0"/>
                  </a:lnTo>
                  <a:lnTo>
                    <a:pt x="10102850" y="1416050"/>
                  </a:lnTo>
                  <a:lnTo>
                    <a:pt x="0" y="1416050"/>
                  </a:lnTo>
                  <a:close/>
                </a:path>
              </a:pathLst>
            </a:custGeom>
            <a:solidFill>
              <a:srgbClr val="8B0000"/>
            </a:solidFill>
            <a:ln w="19050" cap="sq">
              <a:solidFill>
                <a:srgbClr val="8B0000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10287000" y="3017520"/>
            <a:ext cx="1783080" cy="548640"/>
            <a:chOff x="0" y="0"/>
            <a:chExt cx="2377440" cy="73152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10287000" y="2981801"/>
            <a:ext cx="1783080" cy="584359"/>
            <a:chOff x="0" y="0"/>
            <a:chExt cx="2377440" cy="779145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COVID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2138660" y="3017520"/>
            <a:ext cx="1783080" cy="548640"/>
            <a:chOff x="0" y="0"/>
            <a:chExt cx="2377440" cy="73152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12138660" y="2981801"/>
            <a:ext cx="1783080" cy="584359"/>
            <a:chOff x="0" y="0"/>
            <a:chExt cx="2377440" cy="779145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89%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3990320" y="3017520"/>
            <a:ext cx="1783080" cy="548640"/>
            <a:chOff x="0" y="0"/>
            <a:chExt cx="2377440" cy="73152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13990320" y="2981801"/>
            <a:ext cx="1783080" cy="584359"/>
            <a:chOff x="0" y="0"/>
            <a:chExt cx="2377440" cy="779145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89%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5841980" y="3017520"/>
            <a:ext cx="1783080" cy="548640"/>
            <a:chOff x="0" y="0"/>
            <a:chExt cx="2377440" cy="7315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18" name="Group 118"/>
          <p:cNvGrpSpPr/>
          <p:nvPr/>
        </p:nvGrpSpPr>
        <p:grpSpPr>
          <a:xfrm>
            <a:off x="15841980" y="2981801"/>
            <a:ext cx="1783080" cy="584359"/>
            <a:chOff x="0" y="0"/>
            <a:chExt cx="2377440" cy="779145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89%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201751" y="3960971"/>
            <a:ext cx="7577138" cy="1062038"/>
            <a:chOff x="0" y="0"/>
            <a:chExt cx="10102850" cy="141605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0102850" cy="1416050"/>
            </a:xfrm>
            <a:custGeom>
              <a:avLst/>
              <a:gdLst/>
              <a:ahLst/>
              <a:cxnLst/>
              <a:rect l="l" t="t" r="r" b="b"/>
              <a:pathLst>
                <a:path w="10102850" h="1416050">
                  <a:moveTo>
                    <a:pt x="0" y="0"/>
                  </a:moveTo>
                  <a:lnTo>
                    <a:pt x="10102850" y="0"/>
                  </a:lnTo>
                  <a:lnTo>
                    <a:pt x="10102850" y="1416050"/>
                  </a:lnTo>
                  <a:lnTo>
                    <a:pt x="0" y="1416050"/>
                  </a:lnTo>
                  <a:close/>
                </a:path>
              </a:pathLst>
            </a:custGeom>
            <a:solidFill>
              <a:srgbClr val="006400"/>
            </a:solidFill>
            <a:ln w="19050" cap="sq">
              <a:solidFill>
                <a:srgbClr val="006400"/>
              </a:solidFill>
              <a:prstDash val="solid"/>
              <a:miter/>
            </a:ln>
          </p:spPr>
        </p:sp>
      </p:grpSp>
      <p:grpSp>
        <p:nvGrpSpPr>
          <p:cNvPr id="123" name="Group 123"/>
          <p:cNvGrpSpPr/>
          <p:nvPr/>
        </p:nvGrpSpPr>
        <p:grpSpPr>
          <a:xfrm>
            <a:off x="10287000" y="4183380"/>
            <a:ext cx="1783080" cy="548640"/>
            <a:chOff x="0" y="0"/>
            <a:chExt cx="2377440" cy="73152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25" name="Group 125"/>
          <p:cNvGrpSpPr/>
          <p:nvPr/>
        </p:nvGrpSpPr>
        <p:grpSpPr>
          <a:xfrm>
            <a:off x="10287000" y="4147661"/>
            <a:ext cx="1783080" cy="584359"/>
            <a:chOff x="0" y="0"/>
            <a:chExt cx="2377440" cy="779145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2138660" y="4183380"/>
            <a:ext cx="1783080" cy="548640"/>
            <a:chOff x="0" y="0"/>
            <a:chExt cx="2377440" cy="73152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30" name="Group 130"/>
          <p:cNvGrpSpPr/>
          <p:nvPr/>
        </p:nvGrpSpPr>
        <p:grpSpPr>
          <a:xfrm>
            <a:off x="12138660" y="4147661"/>
            <a:ext cx="1783080" cy="584359"/>
            <a:chOff x="0" y="0"/>
            <a:chExt cx="2377440" cy="779145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82%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3990320" y="4183380"/>
            <a:ext cx="1783080" cy="548640"/>
            <a:chOff x="0" y="0"/>
            <a:chExt cx="2377440" cy="73152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35" name="Group 135"/>
          <p:cNvGrpSpPr/>
          <p:nvPr/>
        </p:nvGrpSpPr>
        <p:grpSpPr>
          <a:xfrm>
            <a:off x="13990320" y="4147661"/>
            <a:ext cx="1783080" cy="584359"/>
            <a:chOff x="0" y="0"/>
            <a:chExt cx="2377440" cy="779145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37" name="TextBox 137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82%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15841980" y="4183380"/>
            <a:ext cx="1783080" cy="548640"/>
            <a:chOff x="0" y="0"/>
            <a:chExt cx="2377440" cy="731520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40" name="Group 140"/>
          <p:cNvGrpSpPr/>
          <p:nvPr/>
        </p:nvGrpSpPr>
        <p:grpSpPr>
          <a:xfrm>
            <a:off x="15841980" y="4147661"/>
            <a:ext cx="1783080" cy="584359"/>
            <a:chOff x="0" y="0"/>
            <a:chExt cx="2377440" cy="779145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82%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201751" y="5126831"/>
            <a:ext cx="7577138" cy="1062038"/>
            <a:chOff x="0" y="0"/>
            <a:chExt cx="10102850" cy="141605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0102850" cy="1416050"/>
            </a:xfrm>
            <a:custGeom>
              <a:avLst/>
              <a:gdLst/>
              <a:ahLst/>
              <a:cxnLst/>
              <a:rect l="l" t="t" r="r" b="b"/>
              <a:pathLst>
                <a:path w="10102850" h="1416050">
                  <a:moveTo>
                    <a:pt x="0" y="0"/>
                  </a:moveTo>
                  <a:lnTo>
                    <a:pt x="10102850" y="0"/>
                  </a:lnTo>
                  <a:lnTo>
                    <a:pt x="10102850" y="1416050"/>
                  </a:lnTo>
                  <a:lnTo>
                    <a:pt x="0" y="1416050"/>
                  </a:lnTo>
                  <a:close/>
                </a:path>
              </a:pathLst>
            </a:custGeom>
            <a:solidFill>
              <a:srgbClr val="4B0082"/>
            </a:solidFill>
            <a:ln w="19050" cap="sq">
              <a:solidFill>
                <a:srgbClr val="4B0082"/>
              </a:solidFill>
              <a:prstDash val="solid"/>
              <a:miter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10287000" y="5349240"/>
            <a:ext cx="1783080" cy="548640"/>
            <a:chOff x="0" y="0"/>
            <a:chExt cx="2377440" cy="731520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47" name="Group 147"/>
          <p:cNvGrpSpPr/>
          <p:nvPr/>
        </p:nvGrpSpPr>
        <p:grpSpPr>
          <a:xfrm>
            <a:off x="10287000" y="5313521"/>
            <a:ext cx="1783080" cy="584359"/>
            <a:chOff x="0" y="0"/>
            <a:chExt cx="2377440" cy="779145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49" name="TextBox 149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Viral Pneum.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12138660" y="5349240"/>
            <a:ext cx="1783080" cy="548640"/>
            <a:chOff x="0" y="0"/>
            <a:chExt cx="2377440" cy="731520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52" name="Group 152"/>
          <p:cNvGrpSpPr/>
          <p:nvPr/>
        </p:nvGrpSpPr>
        <p:grpSpPr>
          <a:xfrm>
            <a:off x="12138660" y="5313521"/>
            <a:ext cx="1783080" cy="584359"/>
            <a:chOff x="0" y="0"/>
            <a:chExt cx="2377440" cy="779145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54" name="TextBox 154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83%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3990320" y="5349240"/>
            <a:ext cx="1783080" cy="548640"/>
            <a:chOff x="0" y="0"/>
            <a:chExt cx="2377440" cy="73152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57" name="Group 157"/>
          <p:cNvGrpSpPr/>
          <p:nvPr/>
        </p:nvGrpSpPr>
        <p:grpSpPr>
          <a:xfrm>
            <a:off x="13990320" y="5313521"/>
            <a:ext cx="1783080" cy="584359"/>
            <a:chOff x="0" y="0"/>
            <a:chExt cx="2377440" cy="779145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83%</a:t>
              </a:r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5841980" y="5349240"/>
            <a:ext cx="1783080" cy="548640"/>
            <a:chOff x="0" y="0"/>
            <a:chExt cx="2377440" cy="731520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2377440" cy="731520"/>
            </a:xfrm>
            <a:custGeom>
              <a:avLst/>
              <a:gdLst/>
              <a:ahLst/>
              <a:cxnLst/>
              <a:rect l="l" t="t" r="r" b="b"/>
              <a:pathLst>
                <a:path w="2377440" h="731520">
                  <a:moveTo>
                    <a:pt x="0" y="0"/>
                  </a:moveTo>
                  <a:lnTo>
                    <a:pt x="2377440" y="0"/>
                  </a:lnTo>
                  <a:lnTo>
                    <a:pt x="237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82" b="-13281"/>
              </a:stretch>
            </a:blipFill>
          </p:spPr>
        </p:sp>
      </p:grpSp>
      <p:grpSp>
        <p:nvGrpSpPr>
          <p:cNvPr id="162" name="Group 162"/>
          <p:cNvGrpSpPr/>
          <p:nvPr/>
        </p:nvGrpSpPr>
        <p:grpSpPr>
          <a:xfrm>
            <a:off x="15841980" y="5313521"/>
            <a:ext cx="1783080" cy="584359"/>
            <a:chOff x="0" y="0"/>
            <a:chExt cx="2377440" cy="779145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2377440" cy="779145"/>
            </a:xfrm>
            <a:custGeom>
              <a:avLst/>
              <a:gdLst/>
              <a:ahLst/>
              <a:cxnLst/>
              <a:rect l="l" t="t" r="r" b="b"/>
              <a:pathLst>
                <a:path w="2377440" h="779145">
                  <a:moveTo>
                    <a:pt x="0" y="0"/>
                  </a:moveTo>
                  <a:lnTo>
                    <a:pt x="2377440" y="0"/>
                  </a:lnTo>
                  <a:lnTo>
                    <a:pt x="237744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55" b="-9455"/>
              </a:stretch>
            </a:blipFill>
          </p:spPr>
        </p:sp>
        <p:sp>
          <p:nvSpPr>
            <p:cNvPr id="164" name="TextBox 164"/>
            <p:cNvSpPr txBox="1"/>
            <p:nvPr/>
          </p:nvSpPr>
          <p:spPr>
            <a:xfrm>
              <a:off x="0" y="-47625"/>
              <a:ext cx="237744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83%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10201751" y="6361271"/>
            <a:ext cx="7577138" cy="924877"/>
            <a:chOff x="0" y="0"/>
            <a:chExt cx="10102850" cy="1233170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10102850" cy="1233170"/>
            </a:xfrm>
            <a:custGeom>
              <a:avLst/>
              <a:gdLst/>
              <a:ahLst/>
              <a:cxnLst/>
              <a:rect l="l" t="t" r="r" b="b"/>
              <a:pathLst>
                <a:path w="10102850" h="1233170">
                  <a:moveTo>
                    <a:pt x="0" y="0"/>
                  </a:moveTo>
                  <a:lnTo>
                    <a:pt x="10102850" y="0"/>
                  </a:lnTo>
                  <a:lnTo>
                    <a:pt x="10102850" y="1233170"/>
                  </a:lnTo>
                  <a:lnTo>
                    <a:pt x="0" y="123317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167" name="Group 167"/>
          <p:cNvGrpSpPr/>
          <p:nvPr/>
        </p:nvGrpSpPr>
        <p:grpSpPr>
          <a:xfrm>
            <a:off x="10218420" y="6377940"/>
            <a:ext cx="7543800" cy="891540"/>
            <a:chOff x="0" y="0"/>
            <a:chExt cx="10058400" cy="1188720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10058400" cy="1188720"/>
            </a:xfrm>
            <a:custGeom>
              <a:avLst/>
              <a:gdLst/>
              <a:ahLst/>
              <a:cxnLst/>
              <a:rect l="l" t="t" r="r" b="b"/>
              <a:pathLst>
                <a:path w="10058400" h="1188720">
                  <a:moveTo>
                    <a:pt x="0" y="0"/>
                  </a:moveTo>
                  <a:lnTo>
                    <a:pt x="10058400" y="0"/>
                  </a:lnTo>
                  <a:lnTo>
                    <a:pt x="10058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758" b="-114758"/>
              </a:stretch>
            </a:blipFill>
          </p:spPr>
        </p:sp>
      </p:grpSp>
      <p:grpSp>
        <p:nvGrpSpPr>
          <p:cNvPr id="169" name="Group 169"/>
          <p:cNvGrpSpPr/>
          <p:nvPr/>
        </p:nvGrpSpPr>
        <p:grpSpPr>
          <a:xfrm>
            <a:off x="10218420" y="6335078"/>
            <a:ext cx="7543800" cy="934402"/>
            <a:chOff x="0" y="0"/>
            <a:chExt cx="10058400" cy="1245870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10058400" cy="1245870"/>
            </a:xfrm>
            <a:custGeom>
              <a:avLst/>
              <a:gdLst/>
              <a:ahLst/>
              <a:cxnLst/>
              <a:rect l="l" t="t" r="r" b="b"/>
              <a:pathLst>
                <a:path w="10058400" h="1245870">
                  <a:moveTo>
                    <a:pt x="0" y="0"/>
                  </a:moveTo>
                  <a:lnTo>
                    <a:pt x="10058400" y="0"/>
                  </a:lnTo>
                  <a:lnTo>
                    <a:pt x="10058400" y="1245870"/>
                  </a:lnTo>
                  <a:lnTo>
                    <a:pt x="0" y="1245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7310" b="-107310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57150"/>
              <a:ext cx="10058400" cy="1303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Overall Accuracy : 84.85%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-16669" y="7595711"/>
            <a:ext cx="18316766" cy="993457"/>
            <a:chOff x="0" y="0"/>
            <a:chExt cx="24422354" cy="1324610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24422354" cy="1324610"/>
            </a:xfrm>
            <a:custGeom>
              <a:avLst/>
              <a:gdLst/>
              <a:ahLst/>
              <a:cxnLst/>
              <a:rect l="l" t="t" r="r" b="b"/>
              <a:pathLst>
                <a:path w="24422354" h="1324610">
                  <a:moveTo>
                    <a:pt x="0" y="0"/>
                  </a:moveTo>
                  <a:lnTo>
                    <a:pt x="24422354" y="0"/>
                  </a:lnTo>
                  <a:lnTo>
                    <a:pt x="24422354" y="1324610"/>
                  </a:lnTo>
                  <a:lnTo>
                    <a:pt x="0" y="1324610"/>
                  </a:lnTo>
                  <a:close/>
                </a:path>
              </a:pathLst>
            </a:custGeom>
            <a:solidFill>
              <a:srgbClr val="0A2030"/>
            </a:solidFill>
            <a:ln w="19050" cap="sq">
              <a:solidFill>
                <a:srgbClr val="0A2030"/>
              </a:solidFill>
              <a:prstDash val="solid"/>
              <a:miter/>
            </a:ln>
          </p:spPr>
        </p:sp>
      </p:grpSp>
      <p:grpSp>
        <p:nvGrpSpPr>
          <p:cNvPr id="174" name="Group 174"/>
          <p:cNvGrpSpPr/>
          <p:nvPr/>
        </p:nvGrpSpPr>
        <p:grpSpPr>
          <a:xfrm>
            <a:off x="411480" y="7680960"/>
            <a:ext cx="17419320" cy="822960"/>
            <a:chOff x="0" y="0"/>
            <a:chExt cx="23225760" cy="1097280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23225761" cy="1097280"/>
            </a:xfrm>
            <a:custGeom>
              <a:avLst/>
              <a:gdLst/>
              <a:ahLst/>
              <a:cxnLst/>
              <a:rect l="l" t="t" r="r" b="b"/>
              <a:pathLst>
                <a:path w="23225761" h="1097280">
                  <a:moveTo>
                    <a:pt x="0" y="0"/>
                  </a:moveTo>
                  <a:lnTo>
                    <a:pt x="23225761" y="0"/>
                  </a:lnTo>
                  <a:lnTo>
                    <a:pt x="232257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2146" b="-362145"/>
              </a:stretch>
            </a:blipFill>
          </p:spPr>
        </p:sp>
      </p:grpSp>
      <p:grpSp>
        <p:nvGrpSpPr>
          <p:cNvPr id="176" name="Group 176"/>
          <p:cNvGrpSpPr/>
          <p:nvPr/>
        </p:nvGrpSpPr>
        <p:grpSpPr>
          <a:xfrm>
            <a:off x="411480" y="7659529"/>
            <a:ext cx="17419320" cy="844391"/>
            <a:chOff x="0" y="0"/>
            <a:chExt cx="23225760" cy="1125855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23225761" cy="1125855"/>
            </a:xfrm>
            <a:custGeom>
              <a:avLst/>
              <a:gdLst/>
              <a:ahLst/>
              <a:cxnLst/>
              <a:rect l="l" t="t" r="r" b="b"/>
              <a:pathLst>
                <a:path w="23225761" h="1125855">
                  <a:moveTo>
                    <a:pt x="0" y="0"/>
                  </a:moveTo>
                  <a:lnTo>
                    <a:pt x="23225761" y="0"/>
                  </a:lnTo>
                  <a:lnTo>
                    <a:pt x="23225761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1965" b="-351965"/>
              </a:stretch>
            </a:blipFill>
          </p:spPr>
        </p:sp>
        <p:sp>
          <p:nvSpPr>
            <p:cNvPr id="178" name="TextBox 178"/>
            <p:cNvSpPr txBox="1"/>
            <p:nvPr/>
          </p:nvSpPr>
          <p:spPr>
            <a:xfrm>
              <a:off x="0" y="-28575"/>
              <a:ext cx="2322576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VGG16 demonstrated the best balance of speed and accuracy. Confidence threshold of 70% was applied — predictions below are labeled 'Uncertain' for patient safety.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6459200" cy="891540"/>
            <a:chOff x="0" y="0"/>
            <a:chExt cx="21945600" cy="1188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188720"/>
            </a:xfrm>
            <a:custGeom>
              <a:avLst/>
              <a:gdLst/>
              <a:ahLst/>
              <a:cxnLst/>
              <a:rect l="l" t="t" r="r" b="b"/>
              <a:pathLst>
                <a:path w="21945600" h="118872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9473" b="-30947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6459200" cy="977265"/>
            <a:chOff x="0" y="0"/>
            <a:chExt cx="21945600" cy="13030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303020"/>
            </a:xfrm>
            <a:custGeom>
              <a:avLst/>
              <a:gdLst/>
              <a:ahLst/>
              <a:cxnLst/>
              <a:rect l="l" t="t" r="r" b="b"/>
              <a:pathLst>
                <a:path w="21945600" h="1303020">
                  <a:moveTo>
                    <a:pt x="0" y="0"/>
                  </a:moveTo>
                  <a:lnTo>
                    <a:pt x="21945600" y="0"/>
                  </a:lnTo>
                  <a:lnTo>
                    <a:pt x="21945600" y="1303020"/>
                  </a:lnTo>
                  <a:lnTo>
                    <a:pt x="0" y="13030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8169" b="-27816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1945600" cy="141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Medical Report Generator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4811" y="1423511"/>
            <a:ext cx="3188017" cy="3462338"/>
            <a:chOff x="0" y="0"/>
            <a:chExt cx="4250690" cy="4616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50690" cy="4616450"/>
            </a:xfrm>
            <a:custGeom>
              <a:avLst/>
              <a:gdLst/>
              <a:ahLst/>
              <a:cxnLst/>
              <a:rect l="l" t="t" r="r" b="b"/>
              <a:pathLst>
                <a:path w="4250690" h="4616450">
                  <a:moveTo>
                    <a:pt x="0" y="0"/>
                  </a:moveTo>
                  <a:lnTo>
                    <a:pt x="4250690" y="0"/>
                  </a:lnTo>
                  <a:lnTo>
                    <a:pt x="4250690" y="4616450"/>
                  </a:lnTo>
                  <a:lnTo>
                    <a:pt x="0" y="46164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11480" y="1508760"/>
            <a:ext cx="3154680" cy="1371600"/>
            <a:chOff x="0" y="0"/>
            <a:chExt cx="4206240" cy="182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06240" cy="1828800"/>
            </a:xfrm>
            <a:custGeom>
              <a:avLst/>
              <a:gdLst/>
              <a:ahLst/>
              <a:cxnLst/>
              <a:rect l="l" t="t" r="r" b="b"/>
              <a:pathLst>
                <a:path w="4206240" h="182880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3" r="-582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11480" y="1444466"/>
            <a:ext cx="3154680" cy="1435894"/>
            <a:chOff x="0" y="0"/>
            <a:chExt cx="4206240" cy="19145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06240" cy="1914525"/>
            </a:xfrm>
            <a:custGeom>
              <a:avLst/>
              <a:gdLst/>
              <a:ahLst/>
              <a:cxnLst/>
              <a:rect l="l" t="t" r="r" b="b"/>
              <a:pathLst>
                <a:path w="4206240" h="1914525">
                  <a:moveTo>
                    <a:pt x="0" y="0"/>
                  </a:moveTo>
                  <a:lnTo>
                    <a:pt x="4206240" y="0"/>
                  </a:lnTo>
                  <a:lnTo>
                    <a:pt x="4206240" y="1914525"/>
                  </a:lnTo>
                  <a:lnTo>
                    <a:pt x="0" y="1914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99" r="-839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420624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🖼️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1480" y="2811780"/>
            <a:ext cx="3154680" cy="617220"/>
            <a:chOff x="0" y="0"/>
            <a:chExt cx="4206240" cy="822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06240" cy="822960"/>
            </a:xfrm>
            <a:custGeom>
              <a:avLst/>
              <a:gdLst/>
              <a:ahLst/>
              <a:cxnLst/>
              <a:rect l="l" t="t" r="r" b="b"/>
              <a:pathLst>
                <a:path w="4206240" h="82296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21" b="-4952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411480" y="2783205"/>
            <a:ext cx="3154680" cy="645795"/>
            <a:chOff x="0" y="0"/>
            <a:chExt cx="4206240" cy="8610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06240" cy="861060"/>
            </a:xfrm>
            <a:custGeom>
              <a:avLst/>
              <a:gdLst/>
              <a:ahLst/>
              <a:cxnLst/>
              <a:rect l="l" t="t" r="r" b="b"/>
              <a:pathLst>
                <a:path w="4206240" h="861060">
                  <a:moveTo>
                    <a:pt x="0" y="0"/>
                  </a:moveTo>
                  <a:lnTo>
                    <a:pt x="4206240" y="0"/>
                  </a:lnTo>
                  <a:lnTo>
                    <a:pt x="4206240" y="861060"/>
                  </a:lnTo>
                  <a:lnTo>
                    <a:pt x="0" y="861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83" b="-4518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206240" cy="899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X-Ray Input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1480" y="3429000"/>
            <a:ext cx="3154680" cy="1165860"/>
            <a:chOff x="0" y="0"/>
            <a:chExt cx="4206240" cy="1554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06240" cy="1554480"/>
            </a:xfrm>
            <a:custGeom>
              <a:avLst/>
              <a:gdLst/>
              <a:ahLst/>
              <a:cxnLst/>
              <a:rect l="l" t="t" r="r" b="b"/>
              <a:pathLst>
                <a:path w="4206240" h="1554480">
                  <a:moveTo>
                    <a:pt x="0" y="0"/>
                  </a:moveTo>
                  <a:lnTo>
                    <a:pt x="4206240" y="0"/>
                  </a:lnTo>
                  <a:lnTo>
                    <a:pt x="4206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7" b="-2687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411480" y="3400425"/>
            <a:ext cx="3154680" cy="1194435"/>
            <a:chOff x="0" y="0"/>
            <a:chExt cx="4206240" cy="15925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06240" cy="1592580"/>
            </a:xfrm>
            <a:custGeom>
              <a:avLst/>
              <a:gdLst/>
              <a:ahLst/>
              <a:cxnLst/>
              <a:rect l="l" t="t" r="r" b="b"/>
              <a:pathLst>
                <a:path w="4206240" h="1592580">
                  <a:moveTo>
                    <a:pt x="0" y="0"/>
                  </a:moveTo>
                  <a:lnTo>
                    <a:pt x="4206240" y="0"/>
                  </a:lnTo>
                  <a:lnTo>
                    <a:pt x="4206240" y="1592580"/>
                  </a:lnTo>
                  <a:lnTo>
                    <a:pt x="0" y="1592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2" b="-146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062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chest X-Ray image (JPG/PNG)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549491" y="3000851"/>
            <a:ext cx="376238" cy="239078"/>
            <a:chOff x="0" y="0"/>
            <a:chExt cx="501650" cy="3187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1650" cy="318770"/>
            </a:xfrm>
            <a:custGeom>
              <a:avLst/>
              <a:gdLst/>
              <a:ahLst/>
              <a:cxnLst/>
              <a:rect l="l" t="t" r="r" b="b"/>
              <a:pathLst>
                <a:path w="501650" h="318770">
                  <a:moveTo>
                    <a:pt x="0" y="0"/>
                  </a:moveTo>
                  <a:lnTo>
                    <a:pt x="501650" y="0"/>
                  </a:lnTo>
                  <a:lnTo>
                    <a:pt x="501650" y="318770"/>
                  </a:lnTo>
                  <a:lnTo>
                    <a:pt x="0" y="31877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892391" y="1423511"/>
            <a:ext cx="3188017" cy="3462338"/>
            <a:chOff x="0" y="0"/>
            <a:chExt cx="4250690" cy="46164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50690" cy="4616450"/>
            </a:xfrm>
            <a:custGeom>
              <a:avLst/>
              <a:gdLst/>
              <a:ahLst/>
              <a:cxnLst/>
              <a:rect l="l" t="t" r="r" b="b"/>
              <a:pathLst>
                <a:path w="4250690" h="4616450">
                  <a:moveTo>
                    <a:pt x="0" y="0"/>
                  </a:moveTo>
                  <a:lnTo>
                    <a:pt x="4250690" y="0"/>
                  </a:lnTo>
                  <a:lnTo>
                    <a:pt x="4250690" y="4616450"/>
                  </a:lnTo>
                  <a:lnTo>
                    <a:pt x="0" y="46164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3909060" y="1508760"/>
            <a:ext cx="3154680" cy="1371600"/>
            <a:chOff x="0" y="0"/>
            <a:chExt cx="4206240" cy="1828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06240" cy="1828800"/>
            </a:xfrm>
            <a:custGeom>
              <a:avLst/>
              <a:gdLst/>
              <a:ahLst/>
              <a:cxnLst/>
              <a:rect l="l" t="t" r="r" b="b"/>
              <a:pathLst>
                <a:path w="4206240" h="182880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3" r="-5822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3909060" y="1444466"/>
            <a:ext cx="3154680" cy="1435894"/>
            <a:chOff x="0" y="0"/>
            <a:chExt cx="4206240" cy="19145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06240" cy="1914525"/>
            </a:xfrm>
            <a:custGeom>
              <a:avLst/>
              <a:gdLst/>
              <a:ahLst/>
              <a:cxnLst/>
              <a:rect l="l" t="t" r="r" b="b"/>
              <a:pathLst>
                <a:path w="4206240" h="1914525">
                  <a:moveTo>
                    <a:pt x="0" y="0"/>
                  </a:moveTo>
                  <a:lnTo>
                    <a:pt x="4206240" y="0"/>
                  </a:lnTo>
                  <a:lnTo>
                    <a:pt x="4206240" y="1914525"/>
                  </a:lnTo>
                  <a:lnTo>
                    <a:pt x="0" y="1914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99" r="-839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420624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909060" y="2811780"/>
            <a:ext cx="3154680" cy="617220"/>
            <a:chOff x="0" y="0"/>
            <a:chExt cx="4206240" cy="8229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06240" cy="822960"/>
            </a:xfrm>
            <a:custGeom>
              <a:avLst/>
              <a:gdLst/>
              <a:ahLst/>
              <a:cxnLst/>
              <a:rect l="l" t="t" r="r" b="b"/>
              <a:pathLst>
                <a:path w="4206240" h="82296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21" b="-49520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3909060" y="2783205"/>
            <a:ext cx="3154680" cy="645795"/>
            <a:chOff x="0" y="0"/>
            <a:chExt cx="4206240" cy="8610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06240" cy="861060"/>
            </a:xfrm>
            <a:custGeom>
              <a:avLst/>
              <a:gdLst/>
              <a:ahLst/>
              <a:cxnLst/>
              <a:rect l="l" t="t" r="r" b="b"/>
              <a:pathLst>
                <a:path w="4206240" h="861060">
                  <a:moveTo>
                    <a:pt x="0" y="0"/>
                  </a:moveTo>
                  <a:lnTo>
                    <a:pt x="4206240" y="0"/>
                  </a:lnTo>
                  <a:lnTo>
                    <a:pt x="4206240" y="861060"/>
                  </a:lnTo>
                  <a:lnTo>
                    <a:pt x="0" y="861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83" b="-4518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206240" cy="899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Prediction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909060" y="3429000"/>
            <a:ext cx="3154680" cy="1165860"/>
            <a:chOff x="0" y="0"/>
            <a:chExt cx="4206240" cy="1554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06240" cy="1554480"/>
            </a:xfrm>
            <a:custGeom>
              <a:avLst/>
              <a:gdLst/>
              <a:ahLst/>
              <a:cxnLst/>
              <a:rect l="l" t="t" r="r" b="b"/>
              <a:pathLst>
                <a:path w="4206240" h="1554480">
                  <a:moveTo>
                    <a:pt x="0" y="0"/>
                  </a:moveTo>
                  <a:lnTo>
                    <a:pt x="4206240" y="0"/>
                  </a:lnTo>
                  <a:lnTo>
                    <a:pt x="4206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7" b="-2687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909060" y="3400425"/>
            <a:ext cx="3154680" cy="1194435"/>
            <a:chOff x="0" y="0"/>
            <a:chExt cx="4206240" cy="15925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06240" cy="1592580"/>
            </a:xfrm>
            <a:custGeom>
              <a:avLst/>
              <a:gdLst/>
              <a:ahLst/>
              <a:cxnLst/>
              <a:rect l="l" t="t" r="r" b="b"/>
              <a:pathLst>
                <a:path w="4206240" h="1592580">
                  <a:moveTo>
                    <a:pt x="0" y="0"/>
                  </a:moveTo>
                  <a:lnTo>
                    <a:pt x="4206240" y="0"/>
                  </a:lnTo>
                  <a:lnTo>
                    <a:pt x="4206240" y="1592580"/>
                  </a:lnTo>
                  <a:lnTo>
                    <a:pt x="0" y="1592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2" b="-146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2062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infers disease + confidence score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047071" y="3000851"/>
            <a:ext cx="376238" cy="239078"/>
            <a:chOff x="0" y="0"/>
            <a:chExt cx="501650" cy="31877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01650" cy="318770"/>
            </a:xfrm>
            <a:custGeom>
              <a:avLst/>
              <a:gdLst/>
              <a:ahLst/>
              <a:cxnLst/>
              <a:rect l="l" t="t" r="r" b="b"/>
              <a:pathLst>
                <a:path w="501650" h="318770">
                  <a:moveTo>
                    <a:pt x="0" y="0"/>
                  </a:moveTo>
                  <a:lnTo>
                    <a:pt x="501650" y="0"/>
                  </a:lnTo>
                  <a:lnTo>
                    <a:pt x="501650" y="318770"/>
                  </a:lnTo>
                  <a:lnTo>
                    <a:pt x="0" y="31877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7389971" y="1423511"/>
            <a:ext cx="3188017" cy="3462338"/>
            <a:chOff x="0" y="0"/>
            <a:chExt cx="4250690" cy="46164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250690" cy="4616450"/>
            </a:xfrm>
            <a:custGeom>
              <a:avLst/>
              <a:gdLst/>
              <a:ahLst/>
              <a:cxnLst/>
              <a:rect l="l" t="t" r="r" b="b"/>
              <a:pathLst>
                <a:path w="4250690" h="4616450">
                  <a:moveTo>
                    <a:pt x="0" y="0"/>
                  </a:moveTo>
                  <a:lnTo>
                    <a:pt x="4250690" y="0"/>
                  </a:lnTo>
                  <a:lnTo>
                    <a:pt x="4250690" y="4616450"/>
                  </a:lnTo>
                  <a:lnTo>
                    <a:pt x="0" y="46164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406640" y="1508760"/>
            <a:ext cx="3154680" cy="1371600"/>
            <a:chOff x="0" y="0"/>
            <a:chExt cx="4206240" cy="1828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206240" cy="1828800"/>
            </a:xfrm>
            <a:custGeom>
              <a:avLst/>
              <a:gdLst/>
              <a:ahLst/>
              <a:cxnLst/>
              <a:rect l="l" t="t" r="r" b="b"/>
              <a:pathLst>
                <a:path w="4206240" h="182880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3" r="-5822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7406640" y="1444466"/>
            <a:ext cx="3154680" cy="1435894"/>
            <a:chOff x="0" y="0"/>
            <a:chExt cx="4206240" cy="19145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206240" cy="1914525"/>
            </a:xfrm>
            <a:custGeom>
              <a:avLst/>
              <a:gdLst/>
              <a:ahLst/>
              <a:cxnLst/>
              <a:rect l="l" t="t" r="r" b="b"/>
              <a:pathLst>
                <a:path w="4206240" h="1914525">
                  <a:moveTo>
                    <a:pt x="0" y="0"/>
                  </a:moveTo>
                  <a:lnTo>
                    <a:pt x="4206240" y="0"/>
                  </a:lnTo>
                  <a:lnTo>
                    <a:pt x="4206240" y="1914525"/>
                  </a:lnTo>
                  <a:lnTo>
                    <a:pt x="0" y="1914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99" r="-8399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420624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06640" y="2811780"/>
            <a:ext cx="3154680" cy="617220"/>
            <a:chOff x="0" y="0"/>
            <a:chExt cx="4206240" cy="822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06240" cy="822960"/>
            </a:xfrm>
            <a:custGeom>
              <a:avLst/>
              <a:gdLst/>
              <a:ahLst/>
              <a:cxnLst/>
              <a:rect l="l" t="t" r="r" b="b"/>
              <a:pathLst>
                <a:path w="4206240" h="82296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21" b="-49520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7406640" y="2783205"/>
            <a:ext cx="3154680" cy="645795"/>
            <a:chOff x="0" y="0"/>
            <a:chExt cx="4206240" cy="8610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06240" cy="861060"/>
            </a:xfrm>
            <a:custGeom>
              <a:avLst/>
              <a:gdLst/>
              <a:ahLst/>
              <a:cxnLst/>
              <a:rect l="l" t="t" r="r" b="b"/>
              <a:pathLst>
                <a:path w="4206240" h="861060">
                  <a:moveTo>
                    <a:pt x="0" y="0"/>
                  </a:moveTo>
                  <a:lnTo>
                    <a:pt x="4206240" y="0"/>
                  </a:lnTo>
                  <a:lnTo>
                    <a:pt x="4206240" y="861060"/>
                  </a:lnTo>
                  <a:lnTo>
                    <a:pt x="0" y="861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83" b="-4518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4206240" cy="899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Symptom Lookup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406640" y="3429000"/>
            <a:ext cx="3154680" cy="1165860"/>
            <a:chOff x="0" y="0"/>
            <a:chExt cx="4206240" cy="15544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206240" cy="1554480"/>
            </a:xfrm>
            <a:custGeom>
              <a:avLst/>
              <a:gdLst/>
              <a:ahLst/>
              <a:cxnLst/>
              <a:rect l="l" t="t" r="r" b="b"/>
              <a:pathLst>
                <a:path w="4206240" h="1554480">
                  <a:moveTo>
                    <a:pt x="0" y="0"/>
                  </a:moveTo>
                  <a:lnTo>
                    <a:pt x="4206240" y="0"/>
                  </a:lnTo>
                  <a:lnTo>
                    <a:pt x="4206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7" b="-2687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7406640" y="3400425"/>
            <a:ext cx="3154680" cy="1194435"/>
            <a:chOff x="0" y="0"/>
            <a:chExt cx="4206240" cy="15925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206240" cy="1592580"/>
            </a:xfrm>
            <a:custGeom>
              <a:avLst/>
              <a:gdLst/>
              <a:ahLst/>
              <a:cxnLst/>
              <a:rect l="l" t="t" r="r" b="b"/>
              <a:pathLst>
                <a:path w="4206240" h="1592580">
                  <a:moveTo>
                    <a:pt x="0" y="0"/>
                  </a:moveTo>
                  <a:lnTo>
                    <a:pt x="4206240" y="0"/>
                  </a:lnTo>
                  <a:lnTo>
                    <a:pt x="4206240" y="1592580"/>
                  </a:lnTo>
                  <a:lnTo>
                    <a:pt x="0" y="1592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2" b="-1462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2062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medical CSV for matched symptoms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544651" y="3000851"/>
            <a:ext cx="376238" cy="239078"/>
            <a:chOff x="0" y="0"/>
            <a:chExt cx="501650" cy="31877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01650" cy="318770"/>
            </a:xfrm>
            <a:custGeom>
              <a:avLst/>
              <a:gdLst/>
              <a:ahLst/>
              <a:cxnLst/>
              <a:rect l="l" t="t" r="r" b="b"/>
              <a:pathLst>
                <a:path w="501650" h="318770">
                  <a:moveTo>
                    <a:pt x="0" y="0"/>
                  </a:moveTo>
                  <a:lnTo>
                    <a:pt x="501650" y="0"/>
                  </a:lnTo>
                  <a:lnTo>
                    <a:pt x="501650" y="318770"/>
                  </a:lnTo>
                  <a:lnTo>
                    <a:pt x="0" y="31877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0887551" y="1423511"/>
            <a:ext cx="3188017" cy="3462338"/>
            <a:chOff x="0" y="0"/>
            <a:chExt cx="4250690" cy="461645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250690" cy="4616450"/>
            </a:xfrm>
            <a:custGeom>
              <a:avLst/>
              <a:gdLst/>
              <a:ahLst/>
              <a:cxnLst/>
              <a:rect l="l" t="t" r="r" b="b"/>
              <a:pathLst>
                <a:path w="4250690" h="4616450">
                  <a:moveTo>
                    <a:pt x="0" y="0"/>
                  </a:moveTo>
                  <a:lnTo>
                    <a:pt x="4250690" y="0"/>
                  </a:lnTo>
                  <a:lnTo>
                    <a:pt x="4250690" y="4616450"/>
                  </a:lnTo>
                  <a:lnTo>
                    <a:pt x="0" y="46164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0904220" y="1508760"/>
            <a:ext cx="3154680" cy="1371600"/>
            <a:chOff x="0" y="0"/>
            <a:chExt cx="4206240" cy="1828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206240" cy="1828800"/>
            </a:xfrm>
            <a:custGeom>
              <a:avLst/>
              <a:gdLst/>
              <a:ahLst/>
              <a:cxnLst/>
              <a:rect l="l" t="t" r="r" b="b"/>
              <a:pathLst>
                <a:path w="4206240" h="182880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3" r="-5822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0904220" y="1444466"/>
            <a:ext cx="3154680" cy="1435894"/>
            <a:chOff x="0" y="0"/>
            <a:chExt cx="4206240" cy="191452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06240" cy="1914525"/>
            </a:xfrm>
            <a:custGeom>
              <a:avLst/>
              <a:gdLst/>
              <a:ahLst/>
              <a:cxnLst/>
              <a:rect l="l" t="t" r="r" b="b"/>
              <a:pathLst>
                <a:path w="4206240" h="1914525">
                  <a:moveTo>
                    <a:pt x="0" y="0"/>
                  </a:moveTo>
                  <a:lnTo>
                    <a:pt x="4206240" y="0"/>
                  </a:lnTo>
                  <a:lnTo>
                    <a:pt x="4206240" y="1914525"/>
                  </a:lnTo>
                  <a:lnTo>
                    <a:pt x="0" y="1914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99" r="-8399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85725"/>
              <a:ext cx="420624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🔬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904220" y="2811780"/>
            <a:ext cx="3154680" cy="617220"/>
            <a:chOff x="0" y="0"/>
            <a:chExt cx="4206240" cy="8229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206240" cy="822960"/>
            </a:xfrm>
            <a:custGeom>
              <a:avLst/>
              <a:gdLst/>
              <a:ahLst/>
              <a:cxnLst/>
              <a:rect l="l" t="t" r="r" b="b"/>
              <a:pathLst>
                <a:path w="4206240" h="82296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21" b="-49520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0904220" y="2783205"/>
            <a:ext cx="3154680" cy="645795"/>
            <a:chOff x="0" y="0"/>
            <a:chExt cx="4206240" cy="86106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206240" cy="861060"/>
            </a:xfrm>
            <a:custGeom>
              <a:avLst/>
              <a:gdLst/>
              <a:ahLst/>
              <a:cxnLst/>
              <a:rect l="l" t="t" r="r" b="b"/>
              <a:pathLst>
                <a:path w="4206240" h="861060">
                  <a:moveTo>
                    <a:pt x="0" y="0"/>
                  </a:moveTo>
                  <a:lnTo>
                    <a:pt x="4206240" y="0"/>
                  </a:lnTo>
                  <a:lnTo>
                    <a:pt x="4206240" y="861060"/>
                  </a:lnTo>
                  <a:lnTo>
                    <a:pt x="0" y="861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83" b="-45183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4206240" cy="899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Assembly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904220" y="3429000"/>
            <a:ext cx="3154680" cy="1165860"/>
            <a:chOff x="0" y="0"/>
            <a:chExt cx="4206240" cy="15544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206240" cy="1554480"/>
            </a:xfrm>
            <a:custGeom>
              <a:avLst/>
              <a:gdLst/>
              <a:ahLst/>
              <a:cxnLst/>
              <a:rect l="l" t="t" r="r" b="b"/>
              <a:pathLst>
                <a:path w="4206240" h="1554480">
                  <a:moveTo>
                    <a:pt x="0" y="0"/>
                  </a:moveTo>
                  <a:lnTo>
                    <a:pt x="4206240" y="0"/>
                  </a:lnTo>
                  <a:lnTo>
                    <a:pt x="4206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7" b="-2687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0904220" y="3400425"/>
            <a:ext cx="3154680" cy="1194435"/>
            <a:chOff x="0" y="0"/>
            <a:chExt cx="4206240" cy="15925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206240" cy="1592580"/>
            </a:xfrm>
            <a:custGeom>
              <a:avLst/>
              <a:gdLst/>
              <a:ahLst/>
              <a:cxnLst/>
              <a:rect l="l" t="t" r="r" b="b"/>
              <a:pathLst>
                <a:path w="4206240" h="1592580">
                  <a:moveTo>
                    <a:pt x="0" y="0"/>
                  </a:moveTo>
                  <a:lnTo>
                    <a:pt x="4206240" y="0"/>
                  </a:lnTo>
                  <a:lnTo>
                    <a:pt x="4206240" y="1592580"/>
                  </a:lnTo>
                  <a:lnTo>
                    <a:pt x="0" y="1592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2" b="-1462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42062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Tests, treatments &amp; prevention tips added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4042231" y="3000851"/>
            <a:ext cx="376238" cy="239078"/>
            <a:chOff x="0" y="0"/>
            <a:chExt cx="501650" cy="31877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01650" cy="318770"/>
            </a:xfrm>
            <a:custGeom>
              <a:avLst/>
              <a:gdLst/>
              <a:ahLst/>
              <a:cxnLst/>
              <a:rect l="l" t="t" r="r" b="b"/>
              <a:pathLst>
                <a:path w="501650" h="318770">
                  <a:moveTo>
                    <a:pt x="0" y="0"/>
                  </a:moveTo>
                  <a:lnTo>
                    <a:pt x="501650" y="0"/>
                  </a:lnTo>
                  <a:lnTo>
                    <a:pt x="501650" y="318770"/>
                  </a:lnTo>
                  <a:lnTo>
                    <a:pt x="0" y="31877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4385131" y="1423511"/>
            <a:ext cx="3188017" cy="3462338"/>
            <a:chOff x="0" y="0"/>
            <a:chExt cx="4250690" cy="461645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250690" cy="4616450"/>
            </a:xfrm>
            <a:custGeom>
              <a:avLst/>
              <a:gdLst/>
              <a:ahLst/>
              <a:cxnLst/>
              <a:rect l="l" t="t" r="r" b="b"/>
              <a:pathLst>
                <a:path w="4250690" h="4616450">
                  <a:moveTo>
                    <a:pt x="0" y="0"/>
                  </a:moveTo>
                  <a:lnTo>
                    <a:pt x="4250690" y="0"/>
                  </a:lnTo>
                  <a:lnTo>
                    <a:pt x="4250690" y="4616450"/>
                  </a:lnTo>
                  <a:lnTo>
                    <a:pt x="0" y="46164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4401800" y="1508760"/>
            <a:ext cx="3154680" cy="1371600"/>
            <a:chOff x="0" y="0"/>
            <a:chExt cx="4206240" cy="1828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206240" cy="1828800"/>
            </a:xfrm>
            <a:custGeom>
              <a:avLst/>
              <a:gdLst/>
              <a:ahLst/>
              <a:cxnLst/>
              <a:rect l="l" t="t" r="r" b="b"/>
              <a:pathLst>
                <a:path w="4206240" h="182880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3" r="-5822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14401800" y="1444466"/>
            <a:ext cx="3154680" cy="1435894"/>
            <a:chOff x="0" y="0"/>
            <a:chExt cx="4206240" cy="19145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206240" cy="1914525"/>
            </a:xfrm>
            <a:custGeom>
              <a:avLst/>
              <a:gdLst/>
              <a:ahLst/>
              <a:cxnLst/>
              <a:rect l="l" t="t" r="r" b="b"/>
              <a:pathLst>
                <a:path w="4206240" h="1914525">
                  <a:moveTo>
                    <a:pt x="0" y="0"/>
                  </a:moveTo>
                  <a:lnTo>
                    <a:pt x="4206240" y="0"/>
                  </a:lnTo>
                  <a:lnTo>
                    <a:pt x="4206240" y="1914525"/>
                  </a:lnTo>
                  <a:lnTo>
                    <a:pt x="0" y="1914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99" r="-8399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85725"/>
              <a:ext cx="4206240" cy="200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4401800" y="2811780"/>
            <a:ext cx="3154680" cy="617220"/>
            <a:chOff x="0" y="0"/>
            <a:chExt cx="4206240" cy="82296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206240" cy="822960"/>
            </a:xfrm>
            <a:custGeom>
              <a:avLst/>
              <a:gdLst/>
              <a:ahLst/>
              <a:cxnLst/>
              <a:rect l="l" t="t" r="r" b="b"/>
              <a:pathLst>
                <a:path w="4206240" h="82296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21" b="-49520"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14401800" y="2783205"/>
            <a:ext cx="3154680" cy="645795"/>
            <a:chOff x="0" y="0"/>
            <a:chExt cx="4206240" cy="86106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206240" cy="861060"/>
            </a:xfrm>
            <a:custGeom>
              <a:avLst/>
              <a:gdLst/>
              <a:ahLst/>
              <a:cxnLst/>
              <a:rect l="l" t="t" r="r" b="b"/>
              <a:pathLst>
                <a:path w="4206240" h="861060">
                  <a:moveTo>
                    <a:pt x="0" y="0"/>
                  </a:moveTo>
                  <a:lnTo>
                    <a:pt x="4206240" y="0"/>
                  </a:lnTo>
                  <a:lnTo>
                    <a:pt x="4206240" y="861060"/>
                  </a:lnTo>
                  <a:lnTo>
                    <a:pt x="0" y="861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83" b="-45183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4206240" cy="899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Export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4401800" y="3429000"/>
            <a:ext cx="3154680" cy="1165860"/>
            <a:chOff x="0" y="0"/>
            <a:chExt cx="4206240" cy="155448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206240" cy="1554480"/>
            </a:xfrm>
            <a:custGeom>
              <a:avLst/>
              <a:gdLst/>
              <a:ahLst/>
              <a:cxnLst/>
              <a:rect l="l" t="t" r="r" b="b"/>
              <a:pathLst>
                <a:path w="4206240" h="1554480">
                  <a:moveTo>
                    <a:pt x="0" y="0"/>
                  </a:moveTo>
                  <a:lnTo>
                    <a:pt x="4206240" y="0"/>
                  </a:lnTo>
                  <a:lnTo>
                    <a:pt x="4206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7" b="-2687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14401800" y="3400425"/>
            <a:ext cx="3154680" cy="1194435"/>
            <a:chOff x="0" y="0"/>
            <a:chExt cx="4206240" cy="159258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206240" cy="1592580"/>
            </a:xfrm>
            <a:custGeom>
              <a:avLst/>
              <a:gdLst/>
              <a:ahLst/>
              <a:cxnLst/>
              <a:rect l="l" t="t" r="r" b="b"/>
              <a:pathLst>
                <a:path w="4206240" h="1592580">
                  <a:moveTo>
                    <a:pt x="0" y="0"/>
                  </a:moveTo>
                  <a:lnTo>
                    <a:pt x="4206240" y="0"/>
                  </a:lnTo>
                  <a:lnTo>
                    <a:pt x="4206240" y="1592580"/>
                  </a:lnTo>
                  <a:lnTo>
                    <a:pt x="0" y="1592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62" b="-146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4206240" cy="1630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ReportLab generates downloadable PDF report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85800" y="5143500"/>
            <a:ext cx="5486400" cy="548640"/>
            <a:chOff x="0" y="0"/>
            <a:chExt cx="7315200" cy="7315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5" b="-144715"/>
              </a:stretch>
            </a:blipFill>
          </p:spPr>
        </p:sp>
      </p:grpSp>
      <p:grpSp>
        <p:nvGrpSpPr>
          <p:cNvPr id="102" name="Group 102"/>
          <p:cNvGrpSpPr/>
          <p:nvPr/>
        </p:nvGrpSpPr>
        <p:grpSpPr>
          <a:xfrm>
            <a:off x="685800" y="5107781"/>
            <a:ext cx="5486400" cy="584359"/>
            <a:chOff x="0" y="0"/>
            <a:chExt cx="7315200" cy="77914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7315200" cy="779145"/>
            </a:xfrm>
            <a:custGeom>
              <a:avLst/>
              <a:gdLst/>
              <a:ahLst/>
              <a:cxnLst/>
              <a:rect l="l" t="t" r="r" b="b"/>
              <a:pathLst>
                <a:path w="7315200" h="779145">
                  <a:moveTo>
                    <a:pt x="0" y="0"/>
                  </a:moveTo>
                  <a:lnTo>
                    <a:pt x="7315200" y="0"/>
                  </a:lnTo>
                  <a:lnTo>
                    <a:pt x="7315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940" b="-132940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47625"/>
              <a:ext cx="73152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Contents:</a:t>
              </a:r>
            </a:p>
          </p:txBody>
        </p:sp>
      </p:grpSp>
      <p:sp>
        <p:nvSpPr>
          <p:cNvPr id="105" name="Freeform 105"/>
          <p:cNvSpPr/>
          <p:nvPr/>
        </p:nvSpPr>
        <p:spPr>
          <a:xfrm>
            <a:off x="669131" y="5908643"/>
            <a:ext cx="513397" cy="513398"/>
          </a:xfrm>
          <a:custGeom>
            <a:avLst/>
            <a:gdLst/>
            <a:ahLst/>
            <a:cxnLst/>
            <a:rect l="l" t="t" r="r" b="b"/>
            <a:pathLst>
              <a:path w="513397" h="513398">
                <a:moveTo>
                  <a:pt x="0" y="0"/>
                </a:moveTo>
                <a:lnTo>
                  <a:pt x="513398" y="0"/>
                </a:lnTo>
                <a:lnTo>
                  <a:pt x="513398" y="513398"/>
                </a:lnTo>
                <a:lnTo>
                  <a:pt x="0" y="513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6" name="Group 106"/>
          <p:cNvGrpSpPr/>
          <p:nvPr/>
        </p:nvGrpSpPr>
        <p:grpSpPr>
          <a:xfrm>
            <a:off x="685800" y="5925312"/>
            <a:ext cx="480060" cy="480060"/>
            <a:chOff x="0" y="0"/>
            <a:chExt cx="640080" cy="64008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685800" y="5896737"/>
            <a:ext cx="480060" cy="508635"/>
            <a:chOff x="0" y="0"/>
            <a:chExt cx="640080" cy="67818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640080" cy="678180"/>
            </a:xfrm>
            <a:custGeom>
              <a:avLst/>
              <a:gdLst/>
              <a:ahLst/>
              <a:cxnLst/>
              <a:rect l="l" t="t" r="r" b="b"/>
              <a:pathLst>
                <a:path w="640080" h="678180">
                  <a:moveTo>
                    <a:pt x="0" y="0"/>
                  </a:moveTo>
                  <a:lnTo>
                    <a:pt x="640080" y="0"/>
                  </a:lnTo>
                  <a:lnTo>
                    <a:pt x="6400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940" r="-85940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640080" cy="716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303020" y="5829300"/>
            <a:ext cx="2880360" cy="548640"/>
            <a:chOff x="0" y="0"/>
            <a:chExt cx="3840480" cy="73152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1303020" y="5800725"/>
            <a:ext cx="2880360" cy="577215"/>
            <a:chOff x="0" y="0"/>
            <a:chExt cx="3840480" cy="76962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840480" cy="769620"/>
            </a:xfrm>
            <a:custGeom>
              <a:avLst/>
              <a:gdLst/>
              <a:ahLst/>
              <a:cxnLst/>
              <a:rect l="l" t="t" r="r" b="b"/>
              <a:pathLst>
                <a:path w="3840480" h="769620">
                  <a:moveTo>
                    <a:pt x="0" y="0"/>
                  </a:moveTo>
                  <a:lnTo>
                    <a:pt x="3840480" y="0"/>
                  </a:lnTo>
                  <a:lnTo>
                    <a:pt x="3840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32" b="-47232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38404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Disease Name: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4183380" y="5829300"/>
            <a:ext cx="4800600" cy="548640"/>
            <a:chOff x="0" y="0"/>
            <a:chExt cx="6400800" cy="7315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375" b="-120376"/>
              </a:stretch>
            </a:blipFill>
          </p:spPr>
        </p:sp>
      </p:grpSp>
      <p:grpSp>
        <p:nvGrpSpPr>
          <p:cNvPr id="118" name="Group 118"/>
          <p:cNvGrpSpPr/>
          <p:nvPr/>
        </p:nvGrpSpPr>
        <p:grpSpPr>
          <a:xfrm>
            <a:off x="4183380" y="5807869"/>
            <a:ext cx="4800600" cy="570071"/>
            <a:chOff x="0" y="0"/>
            <a:chExt cx="6400800" cy="760095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6400800" cy="760095"/>
            </a:xfrm>
            <a:custGeom>
              <a:avLst/>
              <a:gdLst/>
              <a:ahLst/>
              <a:cxnLst/>
              <a:rect l="l" t="t" r="r" b="b"/>
              <a:pathLst>
                <a:path w="6400800" h="760095">
                  <a:moveTo>
                    <a:pt x="0" y="0"/>
                  </a:moveTo>
                  <a:lnTo>
                    <a:pt x="6400800" y="0"/>
                  </a:lnTo>
                  <a:lnTo>
                    <a:pt x="64008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28575"/>
              <a:ext cx="64008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COVID / Viral Pneumonia / Normal</a:t>
              </a:r>
            </a:p>
          </p:txBody>
        </p:sp>
      </p:grpSp>
      <p:sp>
        <p:nvSpPr>
          <p:cNvPr id="121" name="Freeform 121"/>
          <p:cNvSpPr/>
          <p:nvPr/>
        </p:nvSpPr>
        <p:spPr>
          <a:xfrm>
            <a:off x="9310211" y="5908643"/>
            <a:ext cx="513397" cy="513398"/>
          </a:xfrm>
          <a:custGeom>
            <a:avLst/>
            <a:gdLst/>
            <a:ahLst/>
            <a:cxnLst/>
            <a:rect l="l" t="t" r="r" b="b"/>
            <a:pathLst>
              <a:path w="513397" h="513398">
                <a:moveTo>
                  <a:pt x="0" y="0"/>
                </a:moveTo>
                <a:lnTo>
                  <a:pt x="513398" y="0"/>
                </a:lnTo>
                <a:lnTo>
                  <a:pt x="513398" y="513398"/>
                </a:lnTo>
                <a:lnTo>
                  <a:pt x="0" y="513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2" name="Group 122"/>
          <p:cNvGrpSpPr/>
          <p:nvPr/>
        </p:nvGrpSpPr>
        <p:grpSpPr>
          <a:xfrm>
            <a:off x="9326880" y="5925312"/>
            <a:ext cx="480060" cy="480060"/>
            <a:chOff x="0" y="0"/>
            <a:chExt cx="640080" cy="64008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24" name="Group 124"/>
          <p:cNvGrpSpPr/>
          <p:nvPr/>
        </p:nvGrpSpPr>
        <p:grpSpPr>
          <a:xfrm>
            <a:off x="9326880" y="5896737"/>
            <a:ext cx="480060" cy="508635"/>
            <a:chOff x="0" y="0"/>
            <a:chExt cx="640080" cy="67818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640080" cy="678180"/>
            </a:xfrm>
            <a:custGeom>
              <a:avLst/>
              <a:gdLst/>
              <a:ahLst/>
              <a:cxnLst/>
              <a:rect l="l" t="t" r="r" b="b"/>
              <a:pathLst>
                <a:path w="640080" h="678180">
                  <a:moveTo>
                    <a:pt x="0" y="0"/>
                  </a:moveTo>
                  <a:lnTo>
                    <a:pt x="640080" y="0"/>
                  </a:lnTo>
                  <a:lnTo>
                    <a:pt x="6400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940" r="-85940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640080" cy="716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944100" y="5829300"/>
            <a:ext cx="2880360" cy="548640"/>
            <a:chOff x="0" y="0"/>
            <a:chExt cx="3840480" cy="73152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129" name="Group 129"/>
          <p:cNvGrpSpPr/>
          <p:nvPr/>
        </p:nvGrpSpPr>
        <p:grpSpPr>
          <a:xfrm>
            <a:off x="9944100" y="5800725"/>
            <a:ext cx="2880360" cy="577215"/>
            <a:chOff x="0" y="0"/>
            <a:chExt cx="3840480" cy="76962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3840480" cy="769620"/>
            </a:xfrm>
            <a:custGeom>
              <a:avLst/>
              <a:gdLst/>
              <a:ahLst/>
              <a:cxnLst/>
              <a:rect l="l" t="t" r="r" b="b"/>
              <a:pathLst>
                <a:path w="3840480" h="769620">
                  <a:moveTo>
                    <a:pt x="0" y="0"/>
                  </a:moveTo>
                  <a:lnTo>
                    <a:pt x="3840480" y="0"/>
                  </a:lnTo>
                  <a:lnTo>
                    <a:pt x="3840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32" b="-47232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38100"/>
              <a:ext cx="38404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 Score: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2824460" y="5829300"/>
            <a:ext cx="4800600" cy="548640"/>
            <a:chOff x="0" y="0"/>
            <a:chExt cx="6400800" cy="73152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375" b="-120376"/>
              </a:stretch>
            </a:blipFill>
          </p:spPr>
        </p:sp>
      </p:grpSp>
      <p:grpSp>
        <p:nvGrpSpPr>
          <p:cNvPr id="134" name="Group 134"/>
          <p:cNvGrpSpPr/>
          <p:nvPr/>
        </p:nvGrpSpPr>
        <p:grpSpPr>
          <a:xfrm>
            <a:off x="12824460" y="5807869"/>
            <a:ext cx="4800600" cy="570071"/>
            <a:chOff x="0" y="0"/>
            <a:chExt cx="6400800" cy="760095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6400800" cy="760095"/>
            </a:xfrm>
            <a:custGeom>
              <a:avLst/>
              <a:gdLst/>
              <a:ahLst/>
              <a:cxnLst/>
              <a:rect l="l" t="t" r="r" b="b"/>
              <a:pathLst>
                <a:path w="6400800" h="760095">
                  <a:moveTo>
                    <a:pt x="0" y="0"/>
                  </a:moveTo>
                  <a:lnTo>
                    <a:pt x="6400800" y="0"/>
                  </a:lnTo>
                  <a:lnTo>
                    <a:pt x="64008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28575"/>
              <a:ext cx="64008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Probability % from softmax output</a:t>
              </a:r>
            </a:p>
          </p:txBody>
        </p:sp>
      </p:grpSp>
      <p:sp>
        <p:nvSpPr>
          <p:cNvPr id="137" name="Freeform 137"/>
          <p:cNvSpPr/>
          <p:nvPr/>
        </p:nvSpPr>
        <p:spPr>
          <a:xfrm>
            <a:off x="669131" y="6937343"/>
            <a:ext cx="513397" cy="513397"/>
          </a:xfrm>
          <a:custGeom>
            <a:avLst/>
            <a:gdLst/>
            <a:ahLst/>
            <a:cxnLst/>
            <a:rect l="l" t="t" r="r" b="b"/>
            <a:pathLst>
              <a:path w="513397" h="513397">
                <a:moveTo>
                  <a:pt x="0" y="0"/>
                </a:moveTo>
                <a:lnTo>
                  <a:pt x="513398" y="0"/>
                </a:lnTo>
                <a:lnTo>
                  <a:pt x="513398" y="513398"/>
                </a:lnTo>
                <a:lnTo>
                  <a:pt x="0" y="513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8" name="Group 138"/>
          <p:cNvGrpSpPr/>
          <p:nvPr/>
        </p:nvGrpSpPr>
        <p:grpSpPr>
          <a:xfrm>
            <a:off x="685800" y="6954012"/>
            <a:ext cx="480060" cy="480060"/>
            <a:chOff x="0" y="0"/>
            <a:chExt cx="640080" cy="640080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40" name="Group 140"/>
          <p:cNvGrpSpPr/>
          <p:nvPr/>
        </p:nvGrpSpPr>
        <p:grpSpPr>
          <a:xfrm>
            <a:off x="685800" y="6925437"/>
            <a:ext cx="480060" cy="508635"/>
            <a:chOff x="0" y="0"/>
            <a:chExt cx="640080" cy="67818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640080" cy="678180"/>
            </a:xfrm>
            <a:custGeom>
              <a:avLst/>
              <a:gdLst/>
              <a:ahLst/>
              <a:cxnLst/>
              <a:rect l="l" t="t" r="r" b="b"/>
              <a:pathLst>
                <a:path w="640080" h="678180">
                  <a:moveTo>
                    <a:pt x="0" y="0"/>
                  </a:moveTo>
                  <a:lnTo>
                    <a:pt x="640080" y="0"/>
                  </a:lnTo>
                  <a:lnTo>
                    <a:pt x="6400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940" r="-85940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38100"/>
              <a:ext cx="640080" cy="716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303020" y="6858000"/>
            <a:ext cx="2880360" cy="548640"/>
            <a:chOff x="0" y="0"/>
            <a:chExt cx="3840480" cy="73152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145" name="Group 145"/>
          <p:cNvGrpSpPr/>
          <p:nvPr/>
        </p:nvGrpSpPr>
        <p:grpSpPr>
          <a:xfrm>
            <a:off x="1303020" y="6829425"/>
            <a:ext cx="2880360" cy="577215"/>
            <a:chOff x="0" y="0"/>
            <a:chExt cx="3840480" cy="769620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3840480" cy="769620"/>
            </a:xfrm>
            <a:custGeom>
              <a:avLst/>
              <a:gdLst/>
              <a:ahLst/>
              <a:cxnLst/>
              <a:rect l="l" t="t" r="r" b="b"/>
              <a:pathLst>
                <a:path w="3840480" h="769620">
                  <a:moveTo>
                    <a:pt x="0" y="0"/>
                  </a:moveTo>
                  <a:lnTo>
                    <a:pt x="3840480" y="0"/>
                  </a:lnTo>
                  <a:lnTo>
                    <a:pt x="3840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32" b="-47232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-38100"/>
              <a:ext cx="38404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Severity Level: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4183380" y="6858000"/>
            <a:ext cx="4800600" cy="548640"/>
            <a:chOff x="0" y="0"/>
            <a:chExt cx="6400800" cy="731520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375" b="-120376"/>
              </a:stretch>
            </a:blipFill>
          </p:spPr>
        </p:sp>
      </p:grpSp>
      <p:grpSp>
        <p:nvGrpSpPr>
          <p:cNvPr id="150" name="Group 150"/>
          <p:cNvGrpSpPr/>
          <p:nvPr/>
        </p:nvGrpSpPr>
        <p:grpSpPr>
          <a:xfrm>
            <a:off x="4183380" y="6836569"/>
            <a:ext cx="4800600" cy="570071"/>
            <a:chOff x="0" y="0"/>
            <a:chExt cx="6400800" cy="760095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6400800" cy="760095"/>
            </a:xfrm>
            <a:custGeom>
              <a:avLst/>
              <a:gdLst/>
              <a:ahLst/>
              <a:cxnLst/>
              <a:rect l="l" t="t" r="r" b="b"/>
              <a:pathLst>
                <a:path w="6400800" h="760095">
                  <a:moveTo>
                    <a:pt x="0" y="0"/>
                  </a:moveTo>
                  <a:lnTo>
                    <a:pt x="6400800" y="0"/>
                  </a:lnTo>
                  <a:lnTo>
                    <a:pt x="64008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152" name="TextBox 152"/>
            <p:cNvSpPr txBox="1"/>
            <p:nvPr/>
          </p:nvSpPr>
          <p:spPr>
            <a:xfrm>
              <a:off x="0" y="-28575"/>
              <a:ext cx="64008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/ Moderate / Low based on confidence</a:t>
              </a:r>
            </a:p>
          </p:txBody>
        </p:sp>
      </p:grpSp>
      <p:sp>
        <p:nvSpPr>
          <p:cNvPr id="153" name="Freeform 153"/>
          <p:cNvSpPr/>
          <p:nvPr/>
        </p:nvSpPr>
        <p:spPr>
          <a:xfrm>
            <a:off x="9310211" y="6937343"/>
            <a:ext cx="513397" cy="513397"/>
          </a:xfrm>
          <a:custGeom>
            <a:avLst/>
            <a:gdLst/>
            <a:ahLst/>
            <a:cxnLst/>
            <a:rect l="l" t="t" r="r" b="b"/>
            <a:pathLst>
              <a:path w="513397" h="513397">
                <a:moveTo>
                  <a:pt x="0" y="0"/>
                </a:moveTo>
                <a:lnTo>
                  <a:pt x="513398" y="0"/>
                </a:lnTo>
                <a:lnTo>
                  <a:pt x="513398" y="513398"/>
                </a:lnTo>
                <a:lnTo>
                  <a:pt x="0" y="513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4" name="Group 154"/>
          <p:cNvGrpSpPr/>
          <p:nvPr/>
        </p:nvGrpSpPr>
        <p:grpSpPr>
          <a:xfrm>
            <a:off x="9326880" y="6954012"/>
            <a:ext cx="480060" cy="480060"/>
            <a:chOff x="0" y="0"/>
            <a:chExt cx="640080" cy="64008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56" name="Group 156"/>
          <p:cNvGrpSpPr/>
          <p:nvPr/>
        </p:nvGrpSpPr>
        <p:grpSpPr>
          <a:xfrm>
            <a:off x="9326880" y="6925437"/>
            <a:ext cx="480060" cy="508635"/>
            <a:chOff x="0" y="0"/>
            <a:chExt cx="640080" cy="678180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640080" cy="678180"/>
            </a:xfrm>
            <a:custGeom>
              <a:avLst/>
              <a:gdLst/>
              <a:ahLst/>
              <a:cxnLst/>
              <a:rect l="l" t="t" r="r" b="b"/>
              <a:pathLst>
                <a:path w="640080" h="678180">
                  <a:moveTo>
                    <a:pt x="0" y="0"/>
                  </a:moveTo>
                  <a:lnTo>
                    <a:pt x="640080" y="0"/>
                  </a:lnTo>
                  <a:lnTo>
                    <a:pt x="6400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940" r="-85940"/>
              </a:stretch>
            </a:blipFill>
          </p:spPr>
        </p:sp>
        <p:sp>
          <p:nvSpPr>
            <p:cNvPr id="158" name="TextBox 158"/>
            <p:cNvSpPr txBox="1"/>
            <p:nvPr/>
          </p:nvSpPr>
          <p:spPr>
            <a:xfrm>
              <a:off x="0" y="-38100"/>
              <a:ext cx="640080" cy="716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9944100" y="6858000"/>
            <a:ext cx="2880360" cy="548640"/>
            <a:chOff x="0" y="0"/>
            <a:chExt cx="3840480" cy="731520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161" name="Group 161"/>
          <p:cNvGrpSpPr/>
          <p:nvPr/>
        </p:nvGrpSpPr>
        <p:grpSpPr>
          <a:xfrm>
            <a:off x="9944100" y="6829425"/>
            <a:ext cx="2880360" cy="577215"/>
            <a:chOff x="0" y="0"/>
            <a:chExt cx="3840480" cy="769620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3840480" cy="769620"/>
            </a:xfrm>
            <a:custGeom>
              <a:avLst/>
              <a:gdLst/>
              <a:ahLst/>
              <a:cxnLst/>
              <a:rect l="l" t="t" r="r" b="b"/>
              <a:pathLst>
                <a:path w="3840480" h="769620">
                  <a:moveTo>
                    <a:pt x="0" y="0"/>
                  </a:moveTo>
                  <a:lnTo>
                    <a:pt x="3840480" y="0"/>
                  </a:lnTo>
                  <a:lnTo>
                    <a:pt x="3840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32" b="-47232"/>
              </a:stretch>
            </a:blipFill>
          </p:spPr>
        </p:sp>
        <p:sp>
          <p:nvSpPr>
            <p:cNvPr id="163" name="TextBox 163"/>
            <p:cNvSpPr txBox="1"/>
            <p:nvPr/>
          </p:nvSpPr>
          <p:spPr>
            <a:xfrm>
              <a:off x="0" y="-38100"/>
              <a:ext cx="38404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Symptoms:</a:t>
              </a:r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12824460" y="6858000"/>
            <a:ext cx="4800600" cy="548640"/>
            <a:chOff x="0" y="0"/>
            <a:chExt cx="6400800" cy="731520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375" b="-120376"/>
              </a:stretch>
            </a:blipFill>
          </p:spPr>
        </p:sp>
      </p:grpSp>
      <p:grpSp>
        <p:nvGrpSpPr>
          <p:cNvPr id="166" name="Group 166"/>
          <p:cNvGrpSpPr/>
          <p:nvPr/>
        </p:nvGrpSpPr>
        <p:grpSpPr>
          <a:xfrm>
            <a:off x="12824460" y="6836569"/>
            <a:ext cx="4800600" cy="570071"/>
            <a:chOff x="0" y="0"/>
            <a:chExt cx="6400800" cy="760095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6400800" cy="760095"/>
            </a:xfrm>
            <a:custGeom>
              <a:avLst/>
              <a:gdLst/>
              <a:ahLst/>
              <a:cxnLst/>
              <a:rect l="l" t="t" r="r" b="b"/>
              <a:pathLst>
                <a:path w="6400800" h="760095">
                  <a:moveTo>
                    <a:pt x="0" y="0"/>
                  </a:moveTo>
                  <a:lnTo>
                    <a:pt x="6400800" y="0"/>
                  </a:lnTo>
                  <a:lnTo>
                    <a:pt x="64008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-28575"/>
              <a:ext cx="64008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Pulled from medical disease dataset</a:t>
              </a:r>
            </a:p>
          </p:txBody>
        </p:sp>
      </p:grpSp>
      <p:sp>
        <p:nvSpPr>
          <p:cNvPr id="169" name="Freeform 169"/>
          <p:cNvSpPr/>
          <p:nvPr/>
        </p:nvSpPr>
        <p:spPr>
          <a:xfrm>
            <a:off x="669131" y="7966043"/>
            <a:ext cx="513397" cy="513397"/>
          </a:xfrm>
          <a:custGeom>
            <a:avLst/>
            <a:gdLst/>
            <a:ahLst/>
            <a:cxnLst/>
            <a:rect l="l" t="t" r="r" b="b"/>
            <a:pathLst>
              <a:path w="513397" h="513397">
                <a:moveTo>
                  <a:pt x="0" y="0"/>
                </a:moveTo>
                <a:lnTo>
                  <a:pt x="513398" y="0"/>
                </a:lnTo>
                <a:lnTo>
                  <a:pt x="513398" y="513398"/>
                </a:lnTo>
                <a:lnTo>
                  <a:pt x="0" y="513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70" name="Group 170"/>
          <p:cNvGrpSpPr/>
          <p:nvPr/>
        </p:nvGrpSpPr>
        <p:grpSpPr>
          <a:xfrm>
            <a:off x="685800" y="7982712"/>
            <a:ext cx="480060" cy="480060"/>
            <a:chOff x="0" y="0"/>
            <a:chExt cx="640080" cy="640080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72" name="Group 172"/>
          <p:cNvGrpSpPr/>
          <p:nvPr/>
        </p:nvGrpSpPr>
        <p:grpSpPr>
          <a:xfrm>
            <a:off x="685800" y="7954137"/>
            <a:ext cx="480060" cy="508635"/>
            <a:chOff x="0" y="0"/>
            <a:chExt cx="640080" cy="678180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640080" cy="678180"/>
            </a:xfrm>
            <a:custGeom>
              <a:avLst/>
              <a:gdLst/>
              <a:ahLst/>
              <a:cxnLst/>
              <a:rect l="l" t="t" r="r" b="b"/>
              <a:pathLst>
                <a:path w="640080" h="678180">
                  <a:moveTo>
                    <a:pt x="0" y="0"/>
                  </a:moveTo>
                  <a:lnTo>
                    <a:pt x="640080" y="0"/>
                  </a:lnTo>
                  <a:lnTo>
                    <a:pt x="6400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940" r="-85940"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0" y="-38100"/>
              <a:ext cx="640080" cy="716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1303020" y="7886700"/>
            <a:ext cx="2880360" cy="548640"/>
            <a:chOff x="0" y="0"/>
            <a:chExt cx="3840480" cy="731520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177" name="Group 177"/>
          <p:cNvGrpSpPr/>
          <p:nvPr/>
        </p:nvGrpSpPr>
        <p:grpSpPr>
          <a:xfrm>
            <a:off x="1303020" y="7858125"/>
            <a:ext cx="2880360" cy="577215"/>
            <a:chOff x="0" y="0"/>
            <a:chExt cx="3840480" cy="769620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3840480" cy="769620"/>
            </a:xfrm>
            <a:custGeom>
              <a:avLst/>
              <a:gdLst/>
              <a:ahLst/>
              <a:cxnLst/>
              <a:rect l="l" t="t" r="r" b="b"/>
              <a:pathLst>
                <a:path w="3840480" h="769620">
                  <a:moveTo>
                    <a:pt x="0" y="0"/>
                  </a:moveTo>
                  <a:lnTo>
                    <a:pt x="3840480" y="0"/>
                  </a:lnTo>
                  <a:lnTo>
                    <a:pt x="3840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32" b="-47232"/>
              </a:stretch>
            </a:blipFill>
          </p:spPr>
        </p:sp>
        <p:sp>
          <p:nvSpPr>
            <p:cNvPr id="179" name="TextBox 179"/>
            <p:cNvSpPr txBox="1"/>
            <p:nvPr/>
          </p:nvSpPr>
          <p:spPr>
            <a:xfrm>
              <a:off x="0" y="-38100"/>
              <a:ext cx="38404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Tests &amp; Treatments:</a:t>
              </a: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4183380" y="7886700"/>
            <a:ext cx="4800600" cy="548640"/>
            <a:chOff x="0" y="0"/>
            <a:chExt cx="6400800" cy="731520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375" b="-120376"/>
              </a:stretch>
            </a:blipFill>
          </p:spPr>
        </p:sp>
      </p:grpSp>
      <p:grpSp>
        <p:nvGrpSpPr>
          <p:cNvPr id="182" name="Group 182"/>
          <p:cNvGrpSpPr/>
          <p:nvPr/>
        </p:nvGrpSpPr>
        <p:grpSpPr>
          <a:xfrm>
            <a:off x="4183380" y="7865269"/>
            <a:ext cx="4800600" cy="570071"/>
            <a:chOff x="0" y="0"/>
            <a:chExt cx="6400800" cy="760095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6400800" cy="760095"/>
            </a:xfrm>
            <a:custGeom>
              <a:avLst/>
              <a:gdLst/>
              <a:ahLst/>
              <a:cxnLst/>
              <a:rect l="l" t="t" r="r" b="b"/>
              <a:pathLst>
                <a:path w="6400800" h="760095">
                  <a:moveTo>
                    <a:pt x="0" y="0"/>
                  </a:moveTo>
                  <a:lnTo>
                    <a:pt x="6400800" y="0"/>
                  </a:lnTo>
                  <a:lnTo>
                    <a:pt x="64008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184" name="TextBox 184"/>
            <p:cNvSpPr txBox="1"/>
            <p:nvPr/>
          </p:nvSpPr>
          <p:spPr>
            <a:xfrm>
              <a:off x="0" y="-28575"/>
              <a:ext cx="64008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Condition-specific medical advice</a:t>
              </a:r>
            </a:p>
          </p:txBody>
        </p:sp>
      </p:grpSp>
      <p:sp>
        <p:nvSpPr>
          <p:cNvPr id="185" name="Freeform 185"/>
          <p:cNvSpPr/>
          <p:nvPr/>
        </p:nvSpPr>
        <p:spPr>
          <a:xfrm>
            <a:off x="9310211" y="7966043"/>
            <a:ext cx="513397" cy="513397"/>
          </a:xfrm>
          <a:custGeom>
            <a:avLst/>
            <a:gdLst/>
            <a:ahLst/>
            <a:cxnLst/>
            <a:rect l="l" t="t" r="r" b="b"/>
            <a:pathLst>
              <a:path w="513397" h="513397">
                <a:moveTo>
                  <a:pt x="0" y="0"/>
                </a:moveTo>
                <a:lnTo>
                  <a:pt x="513398" y="0"/>
                </a:lnTo>
                <a:lnTo>
                  <a:pt x="513398" y="513398"/>
                </a:lnTo>
                <a:lnTo>
                  <a:pt x="0" y="513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86" name="Group 186"/>
          <p:cNvGrpSpPr/>
          <p:nvPr/>
        </p:nvGrpSpPr>
        <p:grpSpPr>
          <a:xfrm>
            <a:off x="9326880" y="7982712"/>
            <a:ext cx="480060" cy="480060"/>
            <a:chOff x="0" y="0"/>
            <a:chExt cx="640080" cy="640080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88" name="Group 188"/>
          <p:cNvGrpSpPr/>
          <p:nvPr/>
        </p:nvGrpSpPr>
        <p:grpSpPr>
          <a:xfrm>
            <a:off x="9326880" y="7954137"/>
            <a:ext cx="480060" cy="508635"/>
            <a:chOff x="0" y="0"/>
            <a:chExt cx="640080" cy="678180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640080" cy="678180"/>
            </a:xfrm>
            <a:custGeom>
              <a:avLst/>
              <a:gdLst/>
              <a:ahLst/>
              <a:cxnLst/>
              <a:rect l="l" t="t" r="r" b="b"/>
              <a:pathLst>
                <a:path w="640080" h="678180">
                  <a:moveTo>
                    <a:pt x="0" y="0"/>
                  </a:moveTo>
                  <a:lnTo>
                    <a:pt x="640080" y="0"/>
                  </a:lnTo>
                  <a:lnTo>
                    <a:pt x="6400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940" r="-85940"/>
              </a:stretch>
            </a:blipFill>
          </p:spPr>
        </p:sp>
        <p:sp>
          <p:nvSpPr>
            <p:cNvPr id="190" name="TextBox 190"/>
            <p:cNvSpPr txBox="1"/>
            <p:nvPr/>
          </p:nvSpPr>
          <p:spPr>
            <a:xfrm>
              <a:off x="0" y="-38100"/>
              <a:ext cx="640080" cy="716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9944100" y="7886700"/>
            <a:ext cx="2880360" cy="548640"/>
            <a:chOff x="0" y="0"/>
            <a:chExt cx="3840480" cy="731520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193" name="Group 193"/>
          <p:cNvGrpSpPr/>
          <p:nvPr/>
        </p:nvGrpSpPr>
        <p:grpSpPr>
          <a:xfrm>
            <a:off x="9944100" y="7858125"/>
            <a:ext cx="2880360" cy="577215"/>
            <a:chOff x="0" y="0"/>
            <a:chExt cx="3840480" cy="769620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3840480" cy="769620"/>
            </a:xfrm>
            <a:custGeom>
              <a:avLst/>
              <a:gdLst/>
              <a:ahLst/>
              <a:cxnLst/>
              <a:rect l="l" t="t" r="r" b="b"/>
              <a:pathLst>
                <a:path w="3840480" h="769620">
                  <a:moveTo>
                    <a:pt x="0" y="0"/>
                  </a:moveTo>
                  <a:lnTo>
                    <a:pt x="3840480" y="0"/>
                  </a:lnTo>
                  <a:lnTo>
                    <a:pt x="38404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32" b="-47232"/>
              </a:stretch>
            </a:blipFill>
          </p:spPr>
        </p:sp>
        <p:sp>
          <p:nvSpPr>
            <p:cNvPr id="195" name="TextBox 195"/>
            <p:cNvSpPr txBox="1"/>
            <p:nvPr/>
          </p:nvSpPr>
          <p:spPr>
            <a:xfrm>
              <a:off x="0" y="-38100"/>
              <a:ext cx="38404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Disclaimer:</a:t>
              </a:r>
            </a:p>
          </p:txBody>
        </p:sp>
      </p:grpSp>
      <p:grpSp>
        <p:nvGrpSpPr>
          <p:cNvPr id="196" name="Group 196"/>
          <p:cNvGrpSpPr/>
          <p:nvPr/>
        </p:nvGrpSpPr>
        <p:grpSpPr>
          <a:xfrm>
            <a:off x="12824460" y="7886700"/>
            <a:ext cx="4800600" cy="548640"/>
            <a:chOff x="0" y="0"/>
            <a:chExt cx="6400800" cy="731520"/>
          </a:xfrm>
        </p:grpSpPr>
        <p:sp>
          <p:nvSpPr>
            <p:cNvPr id="197" name="Freeform 197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375" b="-120376"/>
              </a:stretch>
            </a:blipFill>
          </p:spPr>
        </p:sp>
      </p:grpSp>
      <p:grpSp>
        <p:nvGrpSpPr>
          <p:cNvPr id="198" name="Group 198"/>
          <p:cNvGrpSpPr/>
          <p:nvPr/>
        </p:nvGrpSpPr>
        <p:grpSpPr>
          <a:xfrm>
            <a:off x="12824460" y="7865269"/>
            <a:ext cx="4800600" cy="570071"/>
            <a:chOff x="0" y="0"/>
            <a:chExt cx="6400800" cy="760095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6400800" cy="760095"/>
            </a:xfrm>
            <a:custGeom>
              <a:avLst/>
              <a:gdLst/>
              <a:ahLst/>
              <a:cxnLst/>
              <a:rect l="l" t="t" r="r" b="b"/>
              <a:pathLst>
                <a:path w="6400800" h="760095">
                  <a:moveTo>
                    <a:pt x="0" y="0"/>
                  </a:moveTo>
                  <a:lnTo>
                    <a:pt x="6400800" y="0"/>
                  </a:lnTo>
                  <a:lnTo>
                    <a:pt x="64008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200" name="TextBox 200"/>
            <p:cNvSpPr txBox="1"/>
            <p:nvPr/>
          </p:nvSpPr>
          <p:spPr>
            <a:xfrm>
              <a:off x="0" y="-28575"/>
              <a:ext cx="64008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AI-generated, consult a doctor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3716000" cy="960120"/>
            <a:chOff x="0" y="0"/>
            <a:chExt cx="182880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3716000" cy="1045845"/>
            <a:chOff x="0" y="0"/>
            <a:chExt cx="182880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394460"/>
            </a:xfrm>
            <a:custGeom>
              <a:avLst/>
              <a:gdLst/>
              <a:ahLst/>
              <a:cxnLst/>
              <a:rect l="l" t="t" r="r" b="b"/>
              <a:pathLst>
                <a:path w="18288000" h="1394460">
                  <a:moveTo>
                    <a:pt x="0" y="0"/>
                  </a:moveTo>
                  <a:lnTo>
                    <a:pt x="18288000" y="0"/>
                  </a:lnTo>
                  <a:lnTo>
                    <a:pt x="182880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5541" b="-2055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182880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Applications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1971" y="1423511"/>
            <a:ext cx="5519738" cy="3119438"/>
            <a:chOff x="0" y="0"/>
            <a:chExt cx="7359650" cy="4159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59650" cy="4159250"/>
            </a:xfrm>
            <a:custGeom>
              <a:avLst/>
              <a:gdLst/>
              <a:ahLst/>
              <a:cxnLst/>
              <a:rect l="l" t="t" r="r" b="b"/>
              <a:pathLst>
                <a:path w="7359650" h="4159250">
                  <a:moveTo>
                    <a:pt x="0" y="0"/>
                  </a:moveTo>
                  <a:lnTo>
                    <a:pt x="7359650" y="0"/>
                  </a:lnTo>
                  <a:lnTo>
                    <a:pt x="7359650" y="4159250"/>
                  </a:lnTo>
                  <a:lnTo>
                    <a:pt x="0" y="41592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737711" y="1629251"/>
            <a:ext cx="1199198" cy="1199198"/>
          </a:xfrm>
          <a:custGeom>
            <a:avLst/>
            <a:gdLst/>
            <a:ahLst/>
            <a:cxnLst/>
            <a:rect l="l" t="t" r="r" b="b"/>
            <a:pathLst>
              <a:path w="1199198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54380" y="1645920"/>
            <a:ext cx="1165860" cy="1165860"/>
            <a:chOff x="0" y="0"/>
            <a:chExt cx="155448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54380" y="1595914"/>
            <a:ext cx="1165860" cy="1215866"/>
            <a:chOff x="0" y="0"/>
            <a:chExt cx="1554480" cy="16211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4480" cy="1621155"/>
            </a:xfrm>
            <a:custGeom>
              <a:avLst/>
              <a:gdLst/>
              <a:ahLst/>
              <a:cxnLst/>
              <a:rect l="l" t="t" r="r" b="b"/>
              <a:pathLst>
                <a:path w="1554480" h="1621155">
                  <a:moveTo>
                    <a:pt x="0" y="0"/>
                  </a:moveTo>
                  <a:lnTo>
                    <a:pt x="1554480" y="0"/>
                  </a:lnTo>
                  <a:lnTo>
                    <a:pt x="1554480" y="1621155"/>
                  </a:lnTo>
                  <a:lnTo>
                    <a:pt x="0" y="1621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806" r="-8380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554480" cy="1687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57400" y="1714500"/>
            <a:ext cx="3771900" cy="617220"/>
            <a:chOff x="0" y="0"/>
            <a:chExt cx="5029200" cy="822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29200" cy="822960"/>
            </a:xfrm>
            <a:custGeom>
              <a:avLst/>
              <a:gdLst/>
              <a:ahLst/>
              <a:cxnLst/>
              <a:rect l="l" t="t" r="r" b="b"/>
              <a:pathLst>
                <a:path w="5029200" h="82296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92" b="-68992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57400" y="1678781"/>
            <a:ext cx="3771900" cy="652939"/>
            <a:chOff x="0" y="0"/>
            <a:chExt cx="5029200" cy="8705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29200" cy="870585"/>
            </a:xfrm>
            <a:custGeom>
              <a:avLst/>
              <a:gdLst/>
              <a:ahLst/>
              <a:cxnLst/>
              <a:rect l="l" t="t" r="r" b="b"/>
              <a:pathLst>
                <a:path w="5029200" h="870585">
                  <a:moveTo>
                    <a:pt x="0" y="0"/>
                  </a:moveTo>
                  <a:lnTo>
                    <a:pt x="5029200" y="0"/>
                  </a:lnTo>
                  <a:lnTo>
                    <a:pt x="5029200" y="870585"/>
                  </a:lnTo>
                  <a:lnTo>
                    <a:pt x="0" y="870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561" b="-6256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5029200" cy="927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Hospital Diagnosis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45820" y="2971800"/>
            <a:ext cx="4892040" cy="107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4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Rapid triage support in emergency and outpatient departments. Assists radiologists with AI second opinions.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384131" y="1459706"/>
            <a:ext cx="5519738" cy="3119438"/>
            <a:chOff x="0" y="0"/>
            <a:chExt cx="7359650" cy="41592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59650" cy="4159250"/>
            </a:xfrm>
            <a:custGeom>
              <a:avLst/>
              <a:gdLst/>
              <a:ahLst/>
              <a:cxnLst/>
              <a:rect l="l" t="t" r="r" b="b"/>
              <a:pathLst>
                <a:path w="7359650" h="4159250">
                  <a:moveTo>
                    <a:pt x="0" y="0"/>
                  </a:moveTo>
                  <a:lnTo>
                    <a:pt x="7359650" y="0"/>
                  </a:lnTo>
                  <a:lnTo>
                    <a:pt x="7359650" y="4159250"/>
                  </a:lnTo>
                  <a:lnTo>
                    <a:pt x="0" y="41592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7B2FBE"/>
              </a:solidFill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6567011" y="1629251"/>
            <a:ext cx="1199197" cy="1199198"/>
          </a:xfrm>
          <a:custGeom>
            <a:avLst/>
            <a:gdLst/>
            <a:ahLst/>
            <a:cxnLst/>
            <a:rect l="l" t="t" r="r" b="b"/>
            <a:pathLst>
              <a:path w="1199197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6583680" y="1645920"/>
            <a:ext cx="1165860" cy="1165860"/>
            <a:chOff x="0" y="0"/>
            <a:chExt cx="1554480" cy="15544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6583680" y="1595914"/>
            <a:ext cx="1165860" cy="1215866"/>
            <a:chOff x="0" y="0"/>
            <a:chExt cx="1554480" cy="162115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54480" cy="1621155"/>
            </a:xfrm>
            <a:custGeom>
              <a:avLst/>
              <a:gdLst/>
              <a:ahLst/>
              <a:cxnLst/>
              <a:rect l="l" t="t" r="r" b="b"/>
              <a:pathLst>
                <a:path w="1554480" h="1621155">
                  <a:moveTo>
                    <a:pt x="0" y="0"/>
                  </a:moveTo>
                  <a:lnTo>
                    <a:pt x="1554480" y="0"/>
                  </a:lnTo>
                  <a:lnTo>
                    <a:pt x="1554480" y="1621155"/>
                  </a:lnTo>
                  <a:lnTo>
                    <a:pt x="0" y="1621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806" r="-8380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1554480" cy="1687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👨‍⚕️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886700" y="1714500"/>
            <a:ext cx="3771900" cy="617220"/>
            <a:chOff x="0" y="0"/>
            <a:chExt cx="5029200" cy="822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9200" cy="822960"/>
            </a:xfrm>
            <a:custGeom>
              <a:avLst/>
              <a:gdLst/>
              <a:ahLst/>
              <a:cxnLst/>
              <a:rect l="l" t="t" r="r" b="b"/>
              <a:pathLst>
                <a:path w="5029200" h="82296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92" b="-68992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7886700" y="1678781"/>
            <a:ext cx="3771900" cy="652939"/>
            <a:chOff x="0" y="0"/>
            <a:chExt cx="5029200" cy="87058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29200" cy="870585"/>
            </a:xfrm>
            <a:custGeom>
              <a:avLst/>
              <a:gdLst/>
              <a:ahLst/>
              <a:cxnLst/>
              <a:rect l="l" t="t" r="r" b="b"/>
              <a:pathLst>
                <a:path w="5029200" h="870585">
                  <a:moveTo>
                    <a:pt x="0" y="0"/>
                  </a:moveTo>
                  <a:lnTo>
                    <a:pt x="5029200" y="0"/>
                  </a:lnTo>
                  <a:lnTo>
                    <a:pt x="5029200" y="870585"/>
                  </a:lnTo>
                  <a:lnTo>
                    <a:pt x="0" y="870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561" b="-6256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5029200" cy="927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Telemedicine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675120" y="2972276"/>
            <a:ext cx="4892040" cy="107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4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Remote areas with limited specialists can use AI for preliminary chest X-Ray screening.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190571" y="1423511"/>
            <a:ext cx="5519738" cy="3119438"/>
            <a:chOff x="0" y="0"/>
            <a:chExt cx="7359650" cy="41592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59650" cy="4159250"/>
            </a:xfrm>
            <a:custGeom>
              <a:avLst/>
              <a:gdLst/>
              <a:ahLst/>
              <a:cxnLst/>
              <a:rect l="l" t="t" r="r" b="b"/>
              <a:pathLst>
                <a:path w="7359650" h="4159250">
                  <a:moveTo>
                    <a:pt x="0" y="0"/>
                  </a:moveTo>
                  <a:lnTo>
                    <a:pt x="7359650" y="0"/>
                  </a:lnTo>
                  <a:lnTo>
                    <a:pt x="7359650" y="4159250"/>
                  </a:lnTo>
                  <a:lnTo>
                    <a:pt x="0" y="41592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sp>
        <p:nvSpPr>
          <p:cNvPr id="37" name="Freeform 37"/>
          <p:cNvSpPr/>
          <p:nvPr/>
        </p:nvSpPr>
        <p:spPr>
          <a:xfrm>
            <a:off x="12396311" y="1629251"/>
            <a:ext cx="1199197" cy="1199198"/>
          </a:xfrm>
          <a:custGeom>
            <a:avLst/>
            <a:gdLst/>
            <a:ahLst/>
            <a:cxnLst/>
            <a:rect l="l" t="t" r="r" b="b"/>
            <a:pathLst>
              <a:path w="1199197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12412980" y="1645920"/>
            <a:ext cx="1165860" cy="1165860"/>
            <a:chOff x="0" y="0"/>
            <a:chExt cx="1554480" cy="1554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2412980" y="1595914"/>
            <a:ext cx="1165860" cy="1215866"/>
            <a:chOff x="0" y="0"/>
            <a:chExt cx="1554480" cy="162115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54480" cy="1621155"/>
            </a:xfrm>
            <a:custGeom>
              <a:avLst/>
              <a:gdLst/>
              <a:ahLst/>
              <a:cxnLst/>
              <a:rect l="l" t="t" r="r" b="b"/>
              <a:pathLst>
                <a:path w="1554480" h="1621155">
                  <a:moveTo>
                    <a:pt x="0" y="0"/>
                  </a:moveTo>
                  <a:lnTo>
                    <a:pt x="1554480" y="0"/>
                  </a:lnTo>
                  <a:lnTo>
                    <a:pt x="1554480" y="1621155"/>
                  </a:lnTo>
                  <a:lnTo>
                    <a:pt x="0" y="1621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806" r="-8380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1554480" cy="1687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716000" y="1714500"/>
            <a:ext cx="3771900" cy="617220"/>
            <a:chOff x="0" y="0"/>
            <a:chExt cx="5029200" cy="8229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029200" cy="822960"/>
            </a:xfrm>
            <a:custGeom>
              <a:avLst/>
              <a:gdLst/>
              <a:ahLst/>
              <a:cxnLst/>
              <a:rect l="l" t="t" r="r" b="b"/>
              <a:pathLst>
                <a:path w="5029200" h="82296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92" b="-68992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3716000" y="1678781"/>
            <a:ext cx="3771900" cy="652939"/>
            <a:chOff x="0" y="0"/>
            <a:chExt cx="5029200" cy="87058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29200" cy="870585"/>
            </a:xfrm>
            <a:custGeom>
              <a:avLst/>
              <a:gdLst/>
              <a:ahLst/>
              <a:cxnLst/>
              <a:rect l="l" t="t" r="r" b="b"/>
              <a:pathLst>
                <a:path w="5029200" h="870585">
                  <a:moveTo>
                    <a:pt x="0" y="0"/>
                  </a:moveTo>
                  <a:lnTo>
                    <a:pt x="5029200" y="0"/>
                  </a:lnTo>
                  <a:lnTo>
                    <a:pt x="5029200" y="870585"/>
                  </a:lnTo>
                  <a:lnTo>
                    <a:pt x="0" y="870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561" b="-6256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5029200" cy="927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COVID Screening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595860" y="2935605"/>
            <a:ext cx="4892040" cy="107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4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Mass screening tool during pandemic outbreaks to quickly identify COVID-positive patients.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31971" y="4852511"/>
            <a:ext cx="5519738" cy="3119438"/>
            <a:chOff x="0" y="0"/>
            <a:chExt cx="7359650" cy="41592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359650" cy="4159250"/>
            </a:xfrm>
            <a:custGeom>
              <a:avLst/>
              <a:gdLst/>
              <a:ahLst/>
              <a:cxnLst/>
              <a:rect l="l" t="t" r="r" b="b"/>
              <a:pathLst>
                <a:path w="7359650" h="4159250">
                  <a:moveTo>
                    <a:pt x="0" y="0"/>
                  </a:moveTo>
                  <a:lnTo>
                    <a:pt x="7359650" y="0"/>
                  </a:lnTo>
                  <a:lnTo>
                    <a:pt x="7359650" y="4159250"/>
                  </a:lnTo>
                  <a:lnTo>
                    <a:pt x="0" y="41592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sp>
        <p:nvSpPr>
          <p:cNvPr id="51" name="Freeform 51"/>
          <p:cNvSpPr/>
          <p:nvPr/>
        </p:nvSpPr>
        <p:spPr>
          <a:xfrm>
            <a:off x="737711" y="5058251"/>
            <a:ext cx="1199198" cy="1199198"/>
          </a:xfrm>
          <a:custGeom>
            <a:avLst/>
            <a:gdLst/>
            <a:ahLst/>
            <a:cxnLst/>
            <a:rect l="l" t="t" r="r" b="b"/>
            <a:pathLst>
              <a:path w="1199198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754380" y="5074920"/>
            <a:ext cx="1165860" cy="1165860"/>
            <a:chOff x="0" y="0"/>
            <a:chExt cx="1554480" cy="15544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754380" y="5024914"/>
            <a:ext cx="1165860" cy="1215866"/>
            <a:chOff x="0" y="0"/>
            <a:chExt cx="1554480" cy="162115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54480" cy="1621155"/>
            </a:xfrm>
            <a:custGeom>
              <a:avLst/>
              <a:gdLst/>
              <a:ahLst/>
              <a:cxnLst/>
              <a:rect l="l" t="t" r="r" b="b"/>
              <a:pathLst>
                <a:path w="1554480" h="1621155">
                  <a:moveTo>
                    <a:pt x="0" y="0"/>
                  </a:moveTo>
                  <a:lnTo>
                    <a:pt x="1554480" y="0"/>
                  </a:lnTo>
                  <a:lnTo>
                    <a:pt x="1554480" y="1621155"/>
                  </a:lnTo>
                  <a:lnTo>
                    <a:pt x="0" y="1621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806" r="-8380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66675"/>
              <a:ext cx="1554480" cy="1687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📚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057400" y="5143500"/>
            <a:ext cx="3771900" cy="617220"/>
            <a:chOff x="0" y="0"/>
            <a:chExt cx="5029200" cy="8229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029200" cy="822960"/>
            </a:xfrm>
            <a:custGeom>
              <a:avLst/>
              <a:gdLst/>
              <a:ahLst/>
              <a:cxnLst/>
              <a:rect l="l" t="t" r="r" b="b"/>
              <a:pathLst>
                <a:path w="5029200" h="82296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92" b="-68992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2057400" y="5107781"/>
            <a:ext cx="3771900" cy="652939"/>
            <a:chOff x="0" y="0"/>
            <a:chExt cx="5029200" cy="87058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029200" cy="870585"/>
            </a:xfrm>
            <a:custGeom>
              <a:avLst/>
              <a:gdLst/>
              <a:ahLst/>
              <a:cxnLst/>
              <a:rect l="l" t="t" r="r" b="b"/>
              <a:pathLst>
                <a:path w="5029200" h="870585">
                  <a:moveTo>
                    <a:pt x="0" y="0"/>
                  </a:moveTo>
                  <a:lnTo>
                    <a:pt x="5029200" y="0"/>
                  </a:lnTo>
                  <a:lnTo>
                    <a:pt x="5029200" y="870585"/>
                  </a:lnTo>
                  <a:lnTo>
                    <a:pt x="0" y="870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561" b="-6256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5029200" cy="927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Education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850106" y="6514624"/>
            <a:ext cx="4892040" cy="107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4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Training medical students on real radiology cases with instant AI annotation and feedback.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361271" y="4852511"/>
            <a:ext cx="5519738" cy="3119438"/>
            <a:chOff x="0" y="0"/>
            <a:chExt cx="7359650" cy="415925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59650" cy="4159250"/>
            </a:xfrm>
            <a:custGeom>
              <a:avLst/>
              <a:gdLst/>
              <a:ahLst/>
              <a:cxnLst/>
              <a:rect l="l" t="t" r="r" b="b"/>
              <a:pathLst>
                <a:path w="7359650" h="4159250">
                  <a:moveTo>
                    <a:pt x="0" y="0"/>
                  </a:moveTo>
                  <a:lnTo>
                    <a:pt x="7359650" y="0"/>
                  </a:lnTo>
                  <a:lnTo>
                    <a:pt x="7359650" y="4159250"/>
                  </a:lnTo>
                  <a:lnTo>
                    <a:pt x="0" y="41592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FFB300"/>
              </a:solidFill>
              <a:prstDash val="solid"/>
              <a:miter/>
            </a:ln>
          </p:spPr>
        </p:sp>
      </p:grpSp>
      <p:sp>
        <p:nvSpPr>
          <p:cNvPr id="65" name="Freeform 65"/>
          <p:cNvSpPr/>
          <p:nvPr/>
        </p:nvSpPr>
        <p:spPr>
          <a:xfrm>
            <a:off x="6567011" y="5058251"/>
            <a:ext cx="1199197" cy="1199198"/>
          </a:xfrm>
          <a:custGeom>
            <a:avLst/>
            <a:gdLst/>
            <a:ahLst/>
            <a:cxnLst/>
            <a:rect l="l" t="t" r="r" b="b"/>
            <a:pathLst>
              <a:path w="1199197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6" name="Group 66"/>
          <p:cNvGrpSpPr/>
          <p:nvPr/>
        </p:nvGrpSpPr>
        <p:grpSpPr>
          <a:xfrm>
            <a:off x="6583680" y="5074920"/>
            <a:ext cx="1303020" cy="1303020"/>
            <a:chOff x="0" y="0"/>
            <a:chExt cx="1554480" cy="15544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6583680" y="5024914"/>
            <a:ext cx="960120" cy="1001302"/>
            <a:chOff x="0" y="0"/>
            <a:chExt cx="1554480" cy="162115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554480" cy="1621155"/>
            </a:xfrm>
            <a:custGeom>
              <a:avLst/>
              <a:gdLst/>
              <a:ahLst/>
              <a:cxnLst/>
              <a:rect l="l" t="t" r="r" b="b"/>
              <a:pathLst>
                <a:path w="1554480" h="1621155">
                  <a:moveTo>
                    <a:pt x="0" y="0"/>
                  </a:moveTo>
                  <a:lnTo>
                    <a:pt x="1554480" y="0"/>
                  </a:lnTo>
                  <a:lnTo>
                    <a:pt x="1554480" y="1621155"/>
                  </a:lnTo>
                  <a:lnTo>
                    <a:pt x="0" y="1621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806" r="-8380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66675"/>
              <a:ext cx="1554480" cy="1687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886700" y="5143500"/>
            <a:ext cx="3771900" cy="617220"/>
            <a:chOff x="0" y="0"/>
            <a:chExt cx="5029200" cy="8229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029200" cy="822960"/>
            </a:xfrm>
            <a:custGeom>
              <a:avLst/>
              <a:gdLst/>
              <a:ahLst/>
              <a:cxnLst/>
              <a:rect l="l" t="t" r="r" b="b"/>
              <a:pathLst>
                <a:path w="5029200" h="82296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92" b="-68992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7886700" y="5107781"/>
            <a:ext cx="3771900" cy="652939"/>
            <a:chOff x="0" y="0"/>
            <a:chExt cx="5029200" cy="87058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029200" cy="870585"/>
            </a:xfrm>
            <a:custGeom>
              <a:avLst/>
              <a:gdLst/>
              <a:ahLst/>
              <a:cxnLst/>
              <a:rect l="l" t="t" r="r" b="b"/>
              <a:pathLst>
                <a:path w="5029200" h="870585">
                  <a:moveTo>
                    <a:pt x="0" y="0"/>
                  </a:moveTo>
                  <a:lnTo>
                    <a:pt x="5029200" y="0"/>
                  </a:lnTo>
                  <a:lnTo>
                    <a:pt x="5029200" y="870585"/>
                  </a:lnTo>
                  <a:lnTo>
                    <a:pt x="0" y="870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561" b="-62561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57150"/>
              <a:ext cx="5029200" cy="927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Deployment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6675120" y="6520815"/>
            <a:ext cx="4892040" cy="7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4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Deployable as a web or mobile API for clinics and diagnostic labs worldwide.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2190571" y="4852511"/>
            <a:ext cx="5519738" cy="3119438"/>
            <a:chOff x="0" y="0"/>
            <a:chExt cx="7359650" cy="415925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359650" cy="4159250"/>
            </a:xfrm>
            <a:custGeom>
              <a:avLst/>
              <a:gdLst/>
              <a:ahLst/>
              <a:cxnLst/>
              <a:rect l="l" t="t" r="r" b="b"/>
              <a:pathLst>
                <a:path w="7359650" h="4159250">
                  <a:moveTo>
                    <a:pt x="0" y="0"/>
                  </a:moveTo>
                  <a:lnTo>
                    <a:pt x="7359650" y="0"/>
                  </a:lnTo>
                  <a:lnTo>
                    <a:pt x="7359650" y="4159250"/>
                  </a:lnTo>
                  <a:lnTo>
                    <a:pt x="0" y="41592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sp>
        <p:nvSpPr>
          <p:cNvPr id="79" name="Freeform 79"/>
          <p:cNvSpPr/>
          <p:nvPr/>
        </p:nvSpPr>
        <p:spPr>
          <a:xfrm>
            <a:off x="12396311" y="5058251"/>
            <a:ext cx="1199197" cy="1199198"/>
          </a:xfrm>
          <a:custGeom>
            <a:avLst/>
            <a:gdLst/>
            <a:ahLst/>
            <a:cxnLst/>
            <a:rect l="l" t="t" r="r" b="b"/>
            <a:pathLst>
              <a:path w="1199197" h="1199198">
                <a:moveTo>
                  <a:pt x="0" y="0"/>
                </a:moveTo>
                <a:lnTo>
                  <a:pt x="1199198" y="0"/>
                </a:lnTo>
                <a:lnTo>
                  <a:pt x="1199198" y="1199198"/>
                </a:lnTo>
                <a:lnTo>
                  <a:pt x="0" y="1199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0" name="Group 80"/>
          <p:cNvGrpSpPr/>
          <p:nvPr/>
        </p:nvGrpSpPr>
        <p:grpSpPr>
          <a:xfrm>
            <a:off x="12412980" y="5074920"/>
            <a:ext cx="1165860" cy="1165860"/>
            <a:chOff x="0" y="0"/>
            <a:chExt cx="1554480" cy="15544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12412980" y="5024914"/>
            <a:ext cx="1165860" cy="1215866"/>
            <a:chOff x="0" y="0"/>
            <a:chExt cx="1554480" cy="162115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554480" cy="1621155"/>
            </a:xfrm>
            <a:custGeom>
              <a:avLst/>
              <a:gdLst/>
              <a:ahLst/>
              <a:cxnLst/>
              <a:rect l="l" t="t" r="r" b="b"/>
              <a:pathLst>
                <a:path w="1554480" h="1621155">
                  <a:moveTo>
                    <a:pt x="0" y="0"/>
                  </a:moveTo>
                  <a:lnTo>
                    <a:pt x="1554480" y="0"/>
                  </a:lnTo>
                  <a:lnTo>
                    <a:pt x="1554480" y="1621155"/>
                  </a:lnTo>
                  <a:lnTo>
                    <a:pt x="0" y="1621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806" r="-83806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66675"/>
              <a:ext cx="1554480" cy="1687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🔬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716000" y="5143500"/>
            <a:ext cx="3771900" cy="617220"/>
            <a:chOff x="0" y="0"/>
            <a:chExt cx="5029200" cy="8229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029200" cy="822960"/>
            </a:xfrm>
            <a:custGeom>
              <a:avLst/>
              <a:gdLst/>
              <a:ahLst/>
              <a:cxnLst/>
              <a:rect l="l" t="t" r="r" b="b"/>
              <a:pathLst>
                <a:path w="5029200" h="82296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92" b="-68992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13716000" y="5107781"/>
            <a:ext cx="3771900" cy="652939"/>
            <a:chOff x="0" y="0"/>
            <a:chExt cx="5029200" cy="87058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029200" cy="870585"/>
            </a:xfrm>
            <a:custGeom>
              <a:avLst/>
              <a:gdLst/>
              <a:ahLst/>
              <a:cxnLst/>
              <a:rect l="l" t="t" r="r" b="b"/>
              <a:pathLst>
                <a:path w="5029200" h="870585">
                  <a:moveTo>
                    <a:pt x="0" y="0"/>
                  </a:moveTo>
                  <a:lnTo>
                    <a:pt x="5029200" y="0"/>
                  </a:lnTo>
                  <a:lnTo>
                    <a:pt x="5029200" y="870585"/>
                  </a:lnTo>
                  <a:lnTo>
                    <a:pt x="0" y="870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2561" b="-62561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57150"/>
              <a:ext cx="5029200" cy="927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&amp; Studies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2504420" y="6514624"/>
            <a:ext cx="4892040" cy="107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2274">
                <a:solidFill>
                  <a:srgbClr val="A0B4C8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augmentation and large-scale epidemiological research on lung diseases.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3716000" cy="960120"/>
            <a:chOff x="0" y="0"/>
            <a:chExt cx="182880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3716000" cy="1045845"/>
            <a:chOff x="0" y="0"/>
            <a:chExt cx="182880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394460"/>
            </a:xfrm>
            <a:custGeom>
              <a:avLst/>
              <a:gdLst/>
              <a:ahLst/>
              <a:cxnLst/>
              <a:rect l="l" t="t" r="r" b="b"/>
              <a:pathLst>
                <a:path w="18288000" h="1394460">
                  <a:moveTo>
                    <a:pt x="0" y="0"/>
                  </a:moveTo>
                  <a:lnTo>
                    <a:pt x="18288000" y="0"/>
                  </a:lnTo>
                  <a:lnTo>
                    <a:pt x="182880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5541" b="-2055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182880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Future Scope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98731" y="1423511"/>
            <a:ext cx="101917" cy="7988618"/>
            <a:chOff x="0" y="0"/>
            <a:chExt cx="135890" cy="106514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890" cy="10651490"/>
            </a:xfrm>
            <a:custGeom>
              <a:avLst/>
              <a:gdLst/>
              <a:ahLst/>
              <a:cxnLst/>
              <a:rect l="l" t="t" r="r" b="b"/>
              <a:pathLst>
                <a:path w="135890" h="10651490">
                  <a:moveTo>
                    <a:pt x="0" y="0"/>
                  </a:moveTo>
                  <a:lnTo>
                    <a:pt x="135890" y="0"/>
                  </a:lnTo>
                  <a:lnTo>
                    <a:pt x="135890" y="10651490"/>
                  </a:lnTo>
                  <a:lnTo>
                    <a:pt x="0" y="10651490"/>
                  </a:lnTo>
                  <a:close/>
                </a:path>
              </a:pathLst>
            </a:custGeom>
            <a:solidFill>
              <a:srgbClr val="00BFFF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1971" y="1492091"/>
            <a:ext cx="7988618" cy="2090738"/>
            <a:chOff x="0" y="0"/>
            <a:chExt cx="10651490" cy="27876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51490" cy="2787650"/>
            </a:xfrm>
            <a:custGeom>
              <a:avLst/>
              <a:gdLst/>
              <a:ahLst/>
              <a:cxnLst/>
              <a:rect l="l" t="t" r="r" b="b"/>
              <a:pathLst>
                <a:path w="10651490" h="2787650">
                  <a:moveTo>
                    <a:pt x="0" y="0"/>
                  </a:moveTo>
                  <a:lnTo>
                    <a:pt x="10651490" y="0"/>
                  </a:lnTo>
                  <a:lnTo>
                    <a:pt x="1065149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645920"/>
            <a:ext cx="7406640" cy="548640"/>
            <a:chOff x="0" y="0"/>
            <a:chExt cx="98755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75520" cy="731520"/>
            </a:xfrm>
            <a:custGeom>
              <a:avLst/>
              <a:gdLst/>
              <a:ahLst/>
              <a:cxnLst/>
              <a:rect l="l" t="t" r="r" b="b"/>
              <a:pathLst>
                <a:path w="9875520" h="731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864" b="-212866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22960" y="1610201"/>
            <a:ext cx="7406640" cy="607562"/>
            <a:chOff x="0" y="0"/>
            <a:chExt cx="9875520" cy="8100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75520" cy="810082"/>
            </a:xfrm>
            <a:custGeom>
              <a:avLst/>
              <a:gdLst/>
              <a:ahLst/>
              <a:cxnLst/>
              <a:rect l="l" t="t" r="r" b="b"/>
              <a:pathLst>
                <a:path w="9875520" h="810082">
                  <a:moveTo>
                    <a:pt x="0" y="0"/>
                  </a:moveTo>
                  <a:lnTo>
                    <a:pt x="9875520" y="0"/>
                  </a:lnTo>
                  <a:lnTo>
                    <a:pt x="9875520" y="810082"/>
                  </a:lnTo>
                  <a:lnTo>
                    <a:pt x="0" y="81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447" b="-18562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9875520" cy="87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30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Disease Classes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400" y="2232660"/>
            <a:ext cx="722376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to TB, Lung Cancer, Pleural Effusion — multi-disease detection from a single X-Ray.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10211" y="1492091"/>
            <a:ext cx="7988618" cy="2090738"/>
            <a:chOff x="0" y="0"/>
            <a:chExt cx="10651490" cy="27876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51490" cy="2787650"/>
            </a:xfrm>
            <a:custGeom>
              <a:avLst/>
              <a:gdLst/>
              <a:ahLst/>
              <a:cxnLst/>
              <a:rect l="l" t="t" r="r" b="b"/>
              <a:pathLst>
                <a:path w="10651490" h="2787650">
                  <a:moveTo>
                    <a:pt x="0" y="0"/>
                  </a:moveTo>
                  <a:lnTo>
                    <a:pt x="10651490" y="0"/>
                  </a:lnTo>
                  <a:lnTo>
                    <a:pt x="1065149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601200" y="1645920"/>
            <a:ext cx="7406640" cy="548640"/>
            <a:chOff x="0" y="0"/>
            <a:chExt cx="987552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75520" cy="731520"/>
            </a:xfrm>
            <a:custGeom>
              <a:avLst/>
              <a:gdLst/>
              <a:ahLst/>
              <a:cxnLst/>
              <a:rect l="l" t="t" r="r" b="b"/>
              <a:pathLst>
                <a:path w="9875520" h="731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864" b="-21286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601200" y="1645920"/>
            <a:ext cx="7406640" cy="607562"/>
            <a:chOff x="0" y="0"/>
            <a:chExt cx="9875520" cy="8100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75520" cy="810082"/>
            </a:xfrm>
            <a:custGeom>
              <a:avLst/>
              <a:gdLst/>
              <a:ahLst/>
              <a:cxnLst/>
              <a:rect l="l" t="t" r="r" b="b"/>
              <a:pathLst>
                <a:path w="9875520" h="810082">
                  <a:moveTo>
                    <a:pt x="0" y="0"/>
                  </a:moveTo>
                  <a:lnTo>
                    <a:pt x="9875520" y="0"/>
                  </a:lnTo>
                  <a:lnTo>
                    <a:pt x="9875520" y="810082"/>
                  </a:lnTo>
                  <a:lnTo>
                    <a:pt x="0" y="81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447" b="-18562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9875520" cy="87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30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GAN-Based Augmentation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692640" y="2232660"/>
            <a:ext cx="722376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 GANs to generate synthetic X-Ray images and balance underrepresented disease classes.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31971" y="3823811"/>
            <a:ext cx="7988618" cy="2090738"/>
            <a:chOff x="0" y="0"/>
            <a:chExt cx="10651490" cy="27876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51490" cy="2787650"/>
            </a:xfrm>
            <a:custGeom>
              <a:avLst/>
              <a:gdLst/>
              <a:ahLst/>
              <a:cxnLst/>
              <a:rect l="l" t="t" r="r" b="b"/>
              <a:pathLst>
                <a:path w="10651490" h="2787650">
                  <a:moveTo>
                    <a:pt x="0" y="0"/>
                  </a:moveTo>
                  <a:lnTo>
                    <a:pt x="10651490" y="0"/>
                  </a:lnTo>
                  <a:lnTo>
                    <a:pt x="1065149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22960" y="3977640"/>
            <a:ext cx="7406640" cy="548640"/>
            <a:chOff x="0" y="0"/>
            <a:chExt cx="987552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875520" cy="731520"/>
            </a:xfrm>
            <a:custGeom>
              <a:avLst/>
              <a:gdLst/>
              <a:ahLst/>
              <a:cxnLst/>
              <a:rect l="l" t="t" r="r" b="b"/>
              <a:pathLst>
                <a:path w="9875520" h="731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864" b="-212866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822960" y="3941921"/>
            <a:ext cx="7406640" cy="607562"/>
            <a:chOff x="0" y="0"/>
            <a:chExt cx="9875520" cy="8100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875520" cy="810082"/>
            </a:xfrm>
            <a:custGeom>
              <a:avLst/>
              <a:gdLst/>
              <a:ahLst/>
              <a:cxnLst/>
              <a:rect l="l" t="t" r="r" b="b"/>
              <a:pathLst>
                <a:path w="9875520" h="810082">
                  <a:moveTo>
                    <a:pt x="0" y="0"/>
                  </a:moveTo>
                  <a:lnTo>
                    <a:pt x="9875520" y="0"/>
                  </a:lnTo>
                  <a:lnTo>
                    <a:pt x="9875520" y="810082"/>
                  </a:lnTo>
                  <a:lnTo>
                    <a:pt x="0" y="81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447" b="-18562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9875520" cy="87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30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Grad-CAM Heatmaps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14400" y="4564380"/>
            <a:ext cx="722376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Visualize model attention on X-Ray — highlight exactly which region influenced the diagnosis.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310211" y="3823811"/>
            <a:ext cx="7988618" cy="2090738"/>
            <a:chOff x="0" y="0"/>
            <a:chExt cx="10651490" cy="27876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51490" cy="2787650"/>
            </a:xfrm>
            <a:custGeom>
              <a:avLst/>
              <a:gdLst/>
              <a:ahLst/>
              <a:cxnLst/>
              <a:rect l="l" t="t" r="r" b="b"/>
              <a:pathLst>
                <a:path w="10651490" h="2787650">
                  <a:moveTo>
                    <a:pt x="0" y="0"/>
                  </a:moveTo>
                  <a:lnTo>
                    <a:pt x="10651490" y="0"/>
                  </a:lnTo>
                  <a:lnTo>
                    <a:pt x="1065149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01200" y="3977640"/>
            <a:ext cx="7406640" cy="548640"/>
            <a:chOff x="0" y="0"/>
            <a:chExt cx="987552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75520" cy="731520"/>
            </a:xfrm>
            <a:custGeom>
              <a:avLst/>
              <a:gdLst/>
              <a:ahLst/>
              <a:cxnLst/>
              <a:rect l="l" t="t" r="r" b="b"/>
              <a:pathLst>
                <a:path w="9875520" h="731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864" b="-212866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601200" y="3941921"/>
            <a:ext cx="7406640" cy="607562"/>
            <a:chOff x="0" y="0"/>
            <a:chExt cx="9875520" cy="81008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75520" cy="810082"/>
            </a:xfrm>
            <a:custGeom>
              <a:avLst/>
              <a:gdLst/>
              <a:ahLst/>
              <a:cxnLst/>
              <a:rect l="l" t="t" r="r" b="b"/>
              <a:pathLst>
                <a:path w="9875520" h="810082">
                  <a:moveTo>
                    <a:pt x="0" y="0"/>
                  </a:moveTo>
                  <a:lnTo>
                    <a:pt x="9875520" y="0"/>
                  </a:lnTo>
                  <a:lnTo>
                    <a:pt x="9875520" y="810082"/>
                  </a:lnTo>
                  <a:lnTo>
                    <a:pt x="0" y="81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447" b="-18562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9875520" cy="87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30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EHR Integration &amp; App Deploy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692640" y="4564380"/>
            <a:ext cx="722376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with hospital EHR systems; deploy as mobile app for point-of-care diagnostics.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31971" y="6292691"/>
            <a:ext cx="7988618" cy="2090738"/>
            <a:chOff x="0" y="0"/>
            <a:chExt cx="10651490" cy="27876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651490" cy="2787650"/>
            </a:xfrm>
            <a:custGeom>
              <a:avLst/>
              <a:gdLst/>
              <a:ahLst/>
              <a:cxnLst/>
              <a:rect l="l" t="t" r="r" b="b"/>
              <a:pathLst>
                <a:path w="10651490" h="2787650">
                  <a:moveTo>
                    <a:pt x="0" y="0"/>
                  </a:moveTo>
                  <a:lnTo>
                    <a:pt x="10651490" y="0"/>
                  </a:lnTo>
                  <a:lnTo>
                    <a:pt x="10651490" y="2787650"/>
                  </a:lnTo>
                  <a:lnTo>
                    <a:pt x="0" y="2787650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822960" y="6446520"/>
            <a:ext cx="7406640" cy="548640"/>
            <a:chOff x="0" y="0"/>
            <a:chExt cx="987552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875520" cy="731520"/>
            </a:xfrm>
            <a:custGeom>
              <a:avLst/>
              <a:gdLst/>
              <a:ahLst/>
              <a:cxnLst/>
              <a:rect l="l" t="t" r="r" b="b"/>
              <a:pathLst>
                <a:path w="9875520" h="731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864" b="-212866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822960" y="6410801"/>
            <a:ext cx="7406640" cy="607562"/>
            <a:chOff x="0" y="0"/>
            <a:chExt cx="9875520" cy="81008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875520" cy="810082"/>
            </a:xfrm>
            <a:custGeom>
              <a:avLst/>
              <a:gdLst/>
              <a:ahLst/>
              <a:cxnLst/>
              <a:rect l="l" t="t" r="r" b="b"/>
              <a:pathLst>
                <a:path w="9875520" h="810082">
                  <a:moveTo>
                    <a:pt x="0" y="0"/>
                  </a:moveTo>
                  <a:lnTo>
                    <a:pt x="9875520" y="0"/>
                  </a:lnTo>
                  <a:lnTo>
                    <a:pt x="9875520" y="810082"/>
                  </a:lnTo>
                  <a:lnTo>
                    <a:pt x="0" y="8100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447" b="-18562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9875520" cy="876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304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Fine-Tuning &amp; More Epochs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14400" y="7033260"/>
            <a:ext cx="722376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Unfreeze top layers of VGG16/DenseNet121 for fine-tuning with 20+ epochs for higher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6459200" cy="960120"/>
            <a:chOff x="0" y="0"/>
            <a:chExt cx="219456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280160"/>
            </a:xfrm>
            <a:custGeom>
              <a:avLst/>
              <a:gdLst/>
              <a:ahLst/>
              <a:cxnLst/>
              <a:rect l="l" t="t" r="r" b="b"/>
              <a:pathLst>
                <a:path w="21945600" h="128016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796" b="-28379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6459200" cy="1045845"/>
            <a:chOff x="0" y="0"/>
            <a:chExt cx="21945600" cy="13944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394460"/>
            </a:xfrm>
            <a:custGeom>
              <a:avLst/>
              <a:gdLst/>
              <a:ahLst/>
              <a:cxnLst/>
              <a:rect l="l" t="t" r="r" b="b"/>
              <a:pathLst>
                <a:path w="21945600" h="1394460">
                  <a:moveTo>
                    <a:pt x="0" y="0"/>
                  </a:moveTo>
                  <a:lnTo>
                    <a:pt x="21945600" y="0"/>
                  </a:lnTo>
                  <a:lnTo>
                    <a:pt x="2194560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6649" b="-25664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1945600" cy="1508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💙  Challenges &amp; Limitations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440180"/>
            <a:ext cx="8229600" cy="548640"/>
            <a:chOff x="0" y="0"/>
            <a:chExt cx="1097280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85800" y="1411605"/>
            <a:ext cx="8229600" cy="595731"/>
            <a:chOff x="0" y="0"/>
            <a:chExt cx="10972800" cy="7943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794308"/>
            </a:xfrm>
            <a:custGeom>
              <a:avLst/>
              <a:gdLst/>
              <a:ahLst/>
              <a:cxnLst/>
              <a:rect l="l" t="t" r="r" b="b"/>
              <a:pathLst>
                <a:path w="10972800" h="794308">
                  <a:moveTo>
                    <a:pt x="0" y="0"/>
                  </a:moveTo>
                  <a:lnTo>
                    <a:pt x="10972800" y="0"/>
                  </a:lnTo>
                  <a:lnTo>
                    <a:pt x="10972800" y="794308"/>
                  </a:lnTo>
                  <a:lnTo>
                    <a:pt x="0" y="7943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726" b="-21761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972800" cy="8514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8"/>
                </a:lnSpc>
              </a:pPr>
              <a:r>
                <a:rPr lang="en-US" sz="2999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Faced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6880" y="1440180"/>
            <a:ext cx="8229600" cy="548640"/>
            <a:chOff x="0" y="0"/>
            <a:chExt cx="1097280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326880" y="1411605"/>
            <a:ext cx="8229600" cy="595731"/>
            <a:chOff x="0" y="0"/>
            <a:chExt cx="10972800" cy="7943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0" cy="794308"/>
            </a:xfrm>
            <a:custGeom>
              <a:avLst/>
              <a:gdLst/>
              <a:ahLst/>
              <a:cxnLst/>
              <a:rect l="l" t="t" r="r" b="b"/>
              <a:pathLst>
                <a:path w="10972800" h="794308">
                  <a:moveTo>
                    <a:pt x="0" y="0"/>
                  </a:moveTo>
                  <a:lnTo>
                    <a:pt x="10972800" y="0"/>
                  </a:lnTo>
                  <a:lnTo>
                    <a:pt x="10972800" y="794308"/>
                  </a:lnTo>
                  <a:lnTo>
                    <a:pt x="0" y="7943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726" b="-21761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972800" cy="8514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8"/>
                </a:lnSpc>
              </a:pPr>
              <a:r>
                <a:rPr lang="en-US" sz="299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Strengths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9131" y="2109311"/>
            <a:ext cx="8262938" cy="1610677"/>
            <a:chOff x="0" y="0"/>
            <a:chExt cx="11017250" cy="21475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200808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60120" y="2263140"/>
            <a:ext cx="7680960" cy="480060"/>
            <a:chOff x="0" y="0"/>
            <a:chExt cx="10241280" cy="640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60120" y="2234565"/>
            <a:ext cx="7680960" cy="508635"/>
            <a:chOff x="0" y="0"/>
            <a:chExt cx="10241280" cy="6781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Dataset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51560" y="2703195"/>
            <a:ext cx="749808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Only 317 images — models may overfit; real-world needs 10,000+ images.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69131" y="3892391"/>
            <a:ext cx="8262938" cy="1610677"/>
            <a:chOff x="0" y="0"/>
            <a:chExt cx="11017250" cy="214757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200808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60120" y="4046220"/>
            <a:ext cx="7680960" cy="480060"/>
            <a:chOff x="0" y="0"/>
            <a:chExt cx="10241280" cy="6400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960120" y="4017645"/>
            <a:ext cx="7680960" cy="508635"/>
            <a:chOff x="0" y="0"/>
            <a:chExt cx="10241280" cy="6781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Imbalance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51560" y="4486275"/>
            <a:ext cx="749808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Unequal distribution across COVID / Normal / Pneumonia classes.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69131" y="5675471"/>
            <a:ext cx="8262938" cy="1610677"/>
            <a:chOff x="0" y="0"/>
            <a:chExt cx="11017250" cy="21475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200808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0120" y="5829300"/>
            <a:ext cx="7680960" cy="480060"/>
            <a:chOff x="0" y="0"/>
            <a:chExt cx="10241280" cy="6400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60120" y="5800725"/>
            <a:ext cx="7680960" cy="508635"/>
            <a:chOff x="0" y="0"/>
            <a:chExt cx="10241280" cy="6781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 Epochs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51560" y="6269355"/>
            <a:ext cx="74980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 epochs insufficient for transfer models to fully converge.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69131" y="7458551"/>
            <a:ext cx="8262938" cy="1610677"/>
            <a:chOff x="0" y="0"/>
            <a:chExt cx="11017250" cy="21475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200808"/>
            </a:solidFill>
            <a:ln w="1905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60120" y="7612380"/>
            <a:ext cx="7680960" cy="480060"/>
            <a:chOff x="0" y="0"/>
            <a:chExt cx="10241280" cy="6400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960120" y="7583805"/>
            <a:ext cx="7680960" cy="508635"/>
            <a:chOff x="0" y="0"/>
            <a:chExt cx="10241280" cy="6781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Fine-Tuning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51560" y="8052435"/>
            <a:ext cx="749808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Pretrained layers frozen — model may miss domain-specific features.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310211" y="2109311"/>
            <a:ext cx="8262938" cy="1610677"/>
            <a:chOff x="0" y="0"/>
            <a:chExt cx="11017250" cy="21475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08201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9601200" y="2263140"/>
            <a:ext cx="7680960" cy="480060"/>
            <a:chOff x="0" y="0"/>
            <a:chExt cx="10241280" cy="6400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9601200" y="2234565"/>
            <a:ext cx="7680960" cy="508635"/>
            <a:chOff x="0" y="0"/>
            <a:chExt cx="10241280" cy="6781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Pipeline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9692640" y="2703195"/>
            <a:ext cx="74980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From raw ZIP to final PDF report in one seamless workflow.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310211" y="3892391"/>
            <a:ext cx="8262938" cy="1610677"/>
            <a:chOff x="0" y="0"/>
            <a:chExt cx="11017250" cy="214757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08201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9601200" y="4046220"/>
            <a:ext cx="7680960" cy="480060"/>
            <a:chOff x="0" y="0"/>
            <a:chExt cx="10241280" cy="6400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9601200" y="4017645"/>
            <a:ext cx="7680960" cy="508635"/>
            <a:chOff x="0" y="0"/>
            <a:chExt cx="10241280" cy="6781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Multi-Model Comparison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692640" y="4486275"/>
            <a:ext cx="74980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 best-model selection using max accuracy.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9310211" y="5675471"/>
            <a:ext cx="8262938" cy="1610677"/>
            <a:chOff x="0" y="0"/>
            <a:chExt cx="11017250" cy="214757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08201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601200" y="5829300"/>
            <a:ext cx="7680960" cy="480060"/>
            <a:chOff x="0" y="0"/>
            <a:chExt cx="10241280" cy="6400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9601200" y="5800725"/>
            <a:ext cx="7680960" cy="508635"/>
            <a:chOff x="0" y="0"/>
            <a:chExt cx="10241280" cy="67818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Safety Threshold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9692640" y="6269355"/>
            <a:ext cx="74980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70% confidence gate avoids overconfident misdiagnosis.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9310211" y="7458551"/>
            <a:ext cx="8262938" cy="1610677"/>
            <a:chOff x="0" y="0"/>
            <a:chExt cx="11017250" cy="214757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017250" cy="2147570"/>
            </a:xfrm>
            <a:custGeom>
              <a:avLst/>
              <a:gdLst/>
              <a:ahLst/>
              <a:cxnLst/>
              <a:rect l="l" t="t" r="r" b="b"/>
              <a:pathLst>
                <a:path w="11017250" h="2147570">
                  <a:moveTo>
                    <a:pt x="0" y="0"/>
                  </a:moveTo>
                  <a:lnTo>
                    <a:pt x="11017250" y="0"/>
                  </a:lnTo>
                  <a:lnTo>
                    <a:pt x="11017250" y="2147570"/>
                  </a:lnTo>
                  <a:lnTo>
                    <a:pt x="0" y="2147570"/>
                  </a:lnTo>
                  <a:close/>
                </a:path>
              </a:pathLst>
            </a:custGeom>
            <a:solidFill>
              <a:srgbClr val="082010"/>
            </a:solidFill>
            <a:ln w="1905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9601200" y="7612380"/>
            <a:ext cx="7680960" cy="480060"/>
            <a:chOff x="0" y="0"/>
            <a:chExt cx="10241280" cy="6400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241280" cy="640080"/>
            </a:xfrm>
            <a:custGeom>
              <a:avLst/>
              <a:gdLst/>
              <a:ahLst/>
              <a:cxnLst/>
              <a:rect l="l" t="t" r="r" b="b"/>
              <a:pathLst>
                <a:path w="10241280" h="6400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543" b="-261543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9601200" y="7583805"/>
            <a:ext cx="7680960" cy="508635"/>
            <a:chOff x="0" y="0"/>
            <a:chExt cx="10241280" cy="6781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241280" cy="678180"/>
            </a:xfrm>
            <a:custGeom>
              <a:avLst/>
              <a:gdLst/>
              <a:ahLst/>
              <a:cxnLst/>
              <a:rect l="l" t="t" r="r" b="b"/>
              <a:pathLst>
                <a:path w="10241280" h="678180">
                  <a:moveTo>
                    <a:pt x="0" y="0"/>
                  </a:moveTo>
                  <a:lnTo>
                    <a:pt x="10241280" y="0"/>
                  </a:lnTo>
                  <a:lnTo>
                    <a:pt x="1024128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245" b="-24424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10241280" cy="725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Report Generation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9692640" y="8052435"/>
            <a:ext cx="74980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Clinically structured output with symptoms &amp; treatment.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342900"/>
            <a:ext cx="16870680" cy="960120"/>
            <a:chOff x="0" y="0"/>
            <a:chExt cx="2249424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257175"/>
            <a:ext cx="16870680" cy="1200670"/>
            <a:chOff x="0" y="0"/>
            <a:chExt cx="22494240" cy="16008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94239" cy="1600894"/>
            </a:xfrm>
            <a:custGeom>
              <a:avLst/>
              <a:gdLst/>
              <a:ahLst/>
              <a:cxnLst/>
              <a:rect l="l" t="t" r="r" b="b"/>
              <a:pathLst>
                <a:path w="22494239" h="1600894">
                  <a:moveTo>
                    <a:pt x="0" y="0"/>
                  </a:moveTo>
                  <a:lnTo>
                    <a:pt x="22494239" y="0"/>
                  </a:lnTo>
                  <a:lnTo>
                    <a:pt x="22494239" y="1600894"/>
                  </a:lnTo>
                  <a:lnTo>
                    <a:pt x="0" y="160089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30232" b="-21733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33350"/>
              <a:ext cx="22494240" cy="1734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99"/>
                </a:lnSpc>
              </a:pPr>
              <a:r>
                <a:rPr lang="en-US" sz="5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Demo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371600"/>
            <a:ext cx="16870680" cy="548640"/>
            <a:chOff x="0" y="0"/>
            <a:chExt cx="2249424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94239" cy="731520"/>
            </a:xfrm>
            <a:custGeom>
              <a:avLst/>
              <a:gdLst/>
              <a:ahLst/>
              <a:cxnLst/>
              <a:rect l="l" t="t" r="r" b="b"/>
              <a:pathLst>
                <a:path w="22494239" h="731520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48748" b="-54874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85800" y="1335881"/>
            <a:ext cx="16870680" cy="595572"/>
            <a:chOff x="0" y="0"/>
            <a:chExt cx="22494240" cy="794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794096"/>
            </a:xfrm>
            <a:custGeom>
              <a:avLst/>
              <a:gdLst/>
              <a:ahLst/>
              <a:cxnLst/>
              <a:rect l="l" t="t" r="r" b="b"/>
              <a:pathLst>
                <a:path w="22494239" h="794096">
                  <a:moveTo>
                    <a:pt x="0" y="0"/>
                  </a:moveTo>
                  <a:lnTo>
                    <a:pt x="22494239" y="0"/>
                  </a:lnTo>
                  <a:lnTo>
                    <a:pt x="22494239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891" b="-50100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249424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Watch the AI Medical Report Generator in action</a:t>
              </a:r>
            </a:p>
          </p:txBody>
        </p:sp>
      </p:grpSp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17031"/>
          <a:stretch>
            <a:fillRect/>
          </a:stretch>
        </p:blipFill>
        <p:spPr>
          <a:xfrm>
            <a:off x="1828800" y="2430355"/>
            <a:ext cx="14630400" cy="6827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74320"/>
            <a:ext cx="13716000" cy="960120"/>
            <a:chOff x="0" y="0"/>
            <a:chExt cx="182880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280160"/>
            </a:xfrm>
            <a:custGeom>
              <a:avLst/>
              <a:gdLst/>
              <a:ahLst/>
              <a:cxnLst/>
              <a:rect l="l" t="t" r="r" b="b"/>
              <a:pathLst>
                <a:path w="18288000" h="128016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163" b="-2281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188595"/>
            <a:ext cx="13716000" cy="1186215"/>
            <a:chOff x="0" y="0"/>
            <a:chExt cx="18288000" cy="15816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581621"/>
            </a:xfrm>
            <a:custGeom>
              <a:avLst/>
              <a:gdLst/>
              <a:ahLst/>
              <a:cxnLst/>
              <a:rect l="l" t="t" r="r" b="b"/>
              <a:pathLst>
                <a:path w="18288000" h="1581621">
                  <a:moveTo>
                    <a:pt x="0" y="0"/>
                  </a:moveTo>
                  <a:lnTo>
                    <a:pt x="18288000" y="0"/>
                  </a:lnTo>
                  <a:lnTo>
                    <a:pt x="18288000" y="1581621"/>
                  </a:lnTo>
                  <a:lnTo>
                    <a:pt x="0" y="1581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218" b="-16938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18288000" cy="170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79"/>
                </a:lnSpc>
              </a:pPr>
              <a:r>
                <a:rPr lang="en-US" sz="5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 Conclusion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9131" y="1423511"/>
            <a:ext cx="16904018" cy="3952399"/>
            <a:chOff x="0" y="0"/>
            <a:chExt cx="22538690" cy="5269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538689" cy="5269865"/>
            </a:xfrm>
            <a:custGeom>
              <a:avLst/>
              <a:gdLst/>
              <a:ahLst/>
              <a:cxnLst/>
              <a:rect l="l" t="t" r="r" b="b"/>
              <a:pathLst>
                <a:path w="22538689" h="5269865">
                  <a:moveTo>
                    <a:pt x="0" y="0"/>
                  </a:moveTo>
                  <a:lnTo>
                    <a:pt x="22538689" y="0"/>
                  </a:lnTo>
                  <a:lnTo>
                    <a:pt x="22538689" y="5269865"/>
                  </a:lnTo>
                  <a:lnTo>
                    <a:pt x="0" y="5269865"/>
                  </a:lnTo>
                  <a:close/>
                </a:path>
              </a:pathLst>
            </a:custGeom>
            <a:solidFill>
              <a:srgbClr val="162840"/>
            </a:solidFill>
            <a:ln w="19050" cap="sq">
              <a:solidFill>
                <a:srgbClr val="1E406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60120" y="1508760"/>
            <a:ext cx="16322040" cy="1851660"/>
            <a:chOff x="0" y="0"/>
            <a:chExt cx="21762720" cy="2468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2468880"/>
            </a:xfrm>
            <a:custGeom>
              <a:avLst/>
              <a:gdLst/>
              <a:ahLst/>
              <a:cxnLst/>
              <a:rect l="l" t="t" r="r" b="b"/>
              <a:pathLst>
                <a:path w="21762720" h="2468880">
                  <a:moveTo>
                    <a:pt x="0" y="0"/>
                  </a:moveTo>
                  <a:lnTo>
                    <a:pt x="21762720" y="0"/>
                  </a:lnTo>
                  <a:lnTo>
                    <a:pt x="21762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637" b="-12163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60120" y="1473041"/>
            <a:ext cx="16322040" cy="3670459"/>
            <a:chOff x="0" y="0"/>
            <a:chExt cx="21762720" cy="48939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62720" cy="4893945"/>
            </a:xfrm>
            <a:custGeom>
              <a:avLst/>
              <a:gdLst/>
              <a:ahLst/>
              <a:cxnLst/>
              <a:rect l="l" t="t" r="r" b="b"/>
              <a:pathLst>
                <a:path w="21762720" h="4893945">
                  <a:moveTo>
                    <a:pt x="0" y="0"/>
                  </a:moveTo>
                  <a:lnTo>
                    <a:pt x="21762720" y="0"/>
                  </a:lnTo>
                  <a:lnTo>
                    <a:pt x="21762720" y="4893945"/>
                  </a:lnTo>
                  <a:lnTo>
                    <a:pt x="0" y="48939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936" b="-1235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762720" cy="4951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39"/>
                </a:lnSpc>
              </a:pPr>
              <a:r>
                <a:rPr lang="en-US" sz="29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demonstrates that deep learning models can effectively classify chest X-Ray images into COVID-19, Viral Pneumonia, and Normal categories. The best-performing models — VGG16 and DenseNet121 — achieved 84.85% test accuracy in just 5 epochs. The system goes beyond classification by auto-generating structured PDF medical reports.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2462" y="5623560"/>
            <a:ext cx="3975735" cy="2585347"/>
            <a:chOff x="0" y="0"/>
            <a:chExt cx="5300980" cy="34471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00980" cy="3447129"/>
            </a:xfrm>
            <a:custGeom>
              <a:avLst/>
              <a:gdLst/>
              <a:ahLst/>
              <a:cxnLst/>
              <a:rect l="l" t="t" r="r" b="b"/>
              <a:pathLst>
                <a:path w="5300980" h="3447129">
                  <a:moveTo>
                    <a:pt x="0" y="0"/>
                  </a:moveTo>
                  <a:lnTo>
                    <a:pt x="5300980" y="0"/>
                  </a:lnTo>
                  <a:lnTo>
                    <a:pt x="5300980" y="3447129"/>
                  </a:lnTo>
                  <a:lnTo>
                    <a:pt x="0" y="3447129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5931218"/>
            <a:ext cx="3909060" cy="1147286"/>
            <a:chOff x="0" y="0"/>
            <a:chExt cx="5212080" cy="15297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12080" cy="1529715"/>
            </a:xfrm>
            <a:custGeom>
              <a:avLst/>
              <a:gdLst/>
              <a:ahLst/>
              <a:cxnLst/>
              <a:rect l="l" t="t" r="r" b="b"/>
              <a:pathLst>
                <a:path w="5212080" h="1529715">
                  <a:moveTo>
                    <a:pt x="0" y="0"/>
                  </a:moveTo>
                  <a:lnTo>
                    <a:pt x="5212080" y="0"/>
                  </a:lnTo>
                  <a:lnTo>
                    <a:pt x="521208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89" b="-1638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5212080" cy="1615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00B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84.85%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4937760"/>
            <a:ext cx="3909060" cy="685800"/>
            <a:chOff x="0" y="0"/>
            <a:chExt cx="521208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12080" cy="914400"/>
            </a:xfrm>
            <a:custGeom>
              <a:avLst/>
              <a:gdLst/>
              <a:ahLst/>
              <a:cxnLst/>
              <a:rect l="l" t="t" r="r" b="b"/>
              <a:pathLst>
                <a:path w="5212080" h="914400">
                  <a:moveTo>
                    <a:pt x="0" y="0"/>
                  </a:moveTo>
                  <a:lnTo>
                    <a:pt x="5212080" y="0"/>
                  </a:lnTo>
                  <a:lnTo>
                    <a:pt x="5212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87" b="-60987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85800" y="7126129"/>
            <a:ext cx="3909060" cy="1035367"/>
            <a:chOff x="0" y="0"/>
            <a:chExt cx="5212080" cy="13804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12080" cy="1380490"/>
            </a:xfrm>
            <a:custGeom>
              <a:avLst/>
              <a:gdLst/>
              <a:ahLst/>
              <a:cxnLst/>
              <a:rect l="l" t="t" r="r" b="b"/>
              <a:pathLst>
                <a:path w="5212080" h="1380490">
                  <a:moveTo>
                    <a:pt x="0" y="0"/>
                  </a:moveTo>
                  <a:lnTo>
                    <a:pt x="5212080" y="0"/>
                  </a:lnTo>
                  <a:lnTo>
                    <a:pt x="5212080" y="1380490"/>
                  </a:lnTo>
                  <a:lnTo>
                    <a:pt x="0" y="13804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412" b="-771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5212080" cy="1447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59"/>
                </a:lnSpc>
              </a:pPr>
              <a:r>
                <a:rPr lang="en-US" sz="3049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Accuracy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04422" y="5623560"/>
            <a:ext cx="3975735" cy="2537936"/>
            <a:chOff x="0" y="0"/>
            <a:chExt cx="5300980" cy="33839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00980" cy="3383915"/>
            </a:xfrm>
            <a:custGeom>
              <a:avLst/>
              <a:gdLst/>
              <a:ahLst/>
              <a:cxnLst/>
              <a:rect l="l" t="t" r="r" b="b"/>
              <a:pathLst>
                <a:path w="5300980" h="3383915">
                  <a:moveTo>
                    <a:pt x="0" y="0"/>
                  </a:moveTo>
                  <a:lnTo>
                    <a:pt x="5300980" y="0"/>
                  </a:lnTo>
                  <a:lnTo>
                    <a:pt x="5300980" y="3383915"/>
                  </a:lnTo>
                  <a:lnTo>
                    <a:pt x="0" y="3383915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971097" y="5978842"/>
            <a:ext cx="3909060" cy="1147286"/>
            <a:chOff x="0" y="0"/>
            <a:chExt cx="5212080" cy="15297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12080" cy="1529715"/>
            </a:xfrm>
            <a:custGeom>
              <a:avLst/>
              <a:gdLst/>
              <a:ahLst/>
              <a:cxnLst/>
              <a:rect l="l" t="t" r="r" b="b"/>
              <a:pathLst>
                <a:path w="5212080" h="1529715">
                  <a:moveTo>
                    <a:pt x="0" y="0"/>
                  </a:moveTo>
                  <a:lnTo>
                    <a:pt x="5212080" y="0"/>
                  </a:lnTo>
                  <a:lnTo>
                    <a:pt x="521208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89" b="-1638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5212080" cy="1615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Models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89270" y="3878104"/>
            <a:ext cx="3909060" cy="685800"/>
            <a:chOff x="0" y="0"/>
            <a:chExt cx="521208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212080" cy="914400"/>
            </a:xfrm>
            <a:custGeom>
              <a:avLst/>
              <a:gdLst/>
              <a:ahLst/>
              <a:cxnLst/>
              <a:rect l="l" t="t" r="r" b="b"/>
              <a:pathLst>
                <a:path w="5212080" h="914400">
                  <a:moveTo>
                    <a:pt x="0" y="0"/>
                  </a:moveTo>
                  <a:lnTo>
                    <a:pt x="5212080" y="0"/>
                  </a:lnTo>
                  <a:lnTo>
                    <a:pt x="5212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064" b="-61064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4971097" y="7204710"/>
            <a:ext cx="3909060" cy="956786"/>
            <a:chOff x="0" y="0"/>
            <a:chExt cx="5212080" cy="12757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212080" cy="1275715"/>
            </a:xfrm>
            <a:custGeom>
              <a:avLst/>
              <a:gdLst/>
              <a:ahLst/>
              <a:cxnLst/>
              <a:rect l="l" t="t" r="r" b="b"/>
              <a:pathLst>
                <a:path w="5212080" h="1275715">
                  <a:moveTo>
                    <a:pt x="0" y="0"/>
                  </a:moveTo>
                  <a:lnTo>
                    <a:pt x="5212080" y="0"/>
                  </a:lnTo>
                  <a:lnTo>
                    <a:pt x="5212080" y="1275715"/>
                  </a:lnTo>
                  <a:lnTo>
                    <a:pt x="0" y="12757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649" b="-1656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5212080" cy="1342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59"/>
                </a:lnSpc>
              </a:pPr>
              <a:r>
                <a:rPr lang="en-US" sz="3049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+ Transfer Learning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23045" y="5623560"/>
            <a:ext cx="3975735" cy="2537936"/>
            <a:chOff x="0" y="0"/>
            <a:chExt cx="5300980" cy="338391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00980" cy="3383915"/>
            </a:xfrm>
            <a:custGeom>
              <a:avLst/>
              <a:gdLst/>
              <a:ahLst/>
              <a:cxnLst/>
              <a:rect l="l" t="t" r="r" b="b"/>
              <a:pathLst>
                <a:path w="5300980" h="3383915">
                  <a:moveTo>
                    <a:pt x="0" y="0"/>
                  </a:moveTo>
                  <a:lnTo>
                    <a:pt x="5300980" y="0"/>
                  </a:lnTo>
                  <a:lnTo>
                    <a:pt x="5300980" y="3383915"/>
                  </a:lnTo>
                  <a:lnTo>
                    <a:pt x="0" y="3383915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F44336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189720" y="3840480"/>
            <a:ext cx="3909060" cy="1097280"/>
            <a:chOff x="0" y="0"/>
            <a:chExt cx="5212080" cy="14630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12080" cy="1463040"/>
            </a:xfrm>
            <a:custGeom>
              <a:avLst/>
              <a:gdLst/>
              <a:ahLst/>
              <a:cxnLst/>
              <a:rect l="l" t="t" r="r" b="b"/>
              <a:pathLst>
                <a:path w="5212080" h="1463040">
                  <a:moveTo>
                    <a:pt x="0" y="0"/>
                  </a:moveTo>
                  <a:lnTo>
                    <a:pt x="5212080" y="0"/>
                  </a:lnTo>
                  <a:lnTo>
                    <a:pt x="521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67" b="-19367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9156382" y="5915739"/>
            <a:ext cx="3909060" cy="1147286"/>
            <a:chOff x="0" y="0"/>
            <a:chExt cx="5212080" cy="152971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12080" cy="1529715"/>
            </a:xfrm>
            <a:custGeom>
              <a:avLst/>
              <a:gdLst/>
              <a:ahLst/>
              <a:cxnLst/>
              <a:rect l="l" t="t" r="r" b="b"/>
              <a:pathLst>
                <a:path w="5212080" h="1529715">
                  <a:moveTo>
                    <a:pt x="0" y="0"/>
                  </a:moveTo>
                  <a:lnTo>
                    <a:pt x="5212080" y="0"/>
                  </a:lnTo>
                  <a:lnTo>
                    <a:pt x="521208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89" b="-1638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5212080" cy="1615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443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Classes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89720" y="4937760"/>
            <a:ext cx="3909060" cy="685800"/>
            <a:chOff x="0" y="0"/>
            <a:chExt cx="5212080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212080" cy="914400"/>
            </a:xfrm>
            <a:custGeom>
              <a:avLst/>
              <a:gdLst/>
              <a:ahLst/>
              <a:cxnLst/>
              <a:rect l="l" t="t" r="r" b="b"/>
              <a:pathLst>
                <a:path w="5212080" h="914400">
                  <a:moveTo>
                    <a:pt x="0" y="0"/>
                  </a:moveTo>
                  <a:lnTo>
                    <a:pt x="5212080" y="0"/>
                  </a:lnTo>
                  <a:lnTo>
                    <a:pt x="5212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87" b="-60987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9156382" y="7147560"/>
            <a:ext cx="3909060" cy="1013936"/>
            <a:chOff x="0" y="0"/>
            <a:chExt cx="5212080" cy="135191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12080" cy="1351915"/>
            </a:xfrm>
            <a:custGeom>
              <a:avLst/>
              <a:gdLst/>
              <a:ahLst/>
              <a:cxnLst/>
              <a:rect l="l" t="t" r="r" b="b"/>
              <a:pathLst>
                <a:path w="5212080" h="1351915">
                  <a:moveTo>
                    <a:pt x="0" y="0"/>
                  </a:moveTo>
                  <a:lnTo>
                    <a:pt x="5212080" y="0"/>
                  </a:lnTo>
                  <a:lnTo>
                    <a:pt x="5212080" y="1351915"/>
                  </a:lnTo>
                  <a:lnTo>
                    <a:pt x="0" y="13519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245" b="-999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5212080" cy="1418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59"/>
                </a:lnSpc>
              </a:pPr>
              <a:r>
                <a:rPr lang="en-US" sz="3049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Multi-Disease Detection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408343" y="5623560"/>
            <a:ext cx="3975735" cy="2537936"/>
            <a:chOff x="0" y="0"/>
            <a:chExt cx="5300980" cy="338391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300980" cy="3383915"/>
            </a:xfrm>
            <a:custGeom>
              <a:avLst/>
              <a:gdLst/>
              <a:ahLst/>
              <a:cxnLst/>
              <a:rect l="l" t="t" r="r" b="b"/>
              <a:pathLst>
                <a:path w="5300980" h="3383915">
                  <a:moveTo>
                    <a:pt x="0" y="0"/>
                  </a:moveTo>
                  <a:lnTo>
                    <a:pt x="5300980" y="0"/>
                  </a:lnTo>
                  <a:lnTo>
                    <a:pt x="5300980" y="3383915"/>
                  </a:lnTo>
                  <a:lnTo>
                    <a:pt x="0" y="3383915"/>
                  </a:lnTo>
                  <a:close/>
                </a:path>
              </a:pathLst>
            </a:custGeom>
            <a:solidFill>
              <a:srgbClr val="162840"/>
            </a:solidFill>
            <a:ln w="38100" cap="sq">
              <a:solidFill>
                <a:srgbClr val="00FF9D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3441680" y="3840480"/>
            <a:ext cx="3909060" cy="1097280"/>
            <a:chOff x="0" y="0"/>
            <a:chExt cx="5212080" cy="14630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212080" cy="1463040"/>
            </a:xfrm>
            <a:custGeom>
              <a:avLst/>
              <a:gdLst/>
              <a:ahLst/>
              <a:cxnLst/>
              <a:rect l="l" t="t" r="r" b="b"/>
              <a:pathLst>
                <a:path w="5212080" h="1463040">
                  <a:moveTo>
                    <a:pt x="0" y="0"/>
                  </a:moveTo>
                  <a:lnTo>
                    <a:pt x="5212080" y="0"/>
                  </a:lnTo>
                  <a:lnTo>
                    <a:pt x="521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67" b="-19367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3470255" y="5814060"/>
            <a:ext cx="3909060" cy="1147286"/>
            <a:chOff x="0" y="0"/>
            <a:chExt cx="5212080" cy="152971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212080" cy="1529715"/>
            </a:xfrm>
            <a:custGeom>
              <a:avLst/>
              <a:gdLst/>
              <a:ahLst/>
              <a:cxnLst/>
              <a:rect l="l" t="t" r="r" b="b"/>
              <a:pathLst>
                <a:path w="5212080" h="1529715">
                  <a:moveTo>
                    <a:pt x="0" y="0"/>
                  </a:moveTo>
                  <a:lnTo>
                    <a:pt x="5212080" y="0"/>
                  </a:lnTo>
                  <a:lnTo>
                    <a:pt x="521208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89" b="-1638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5212080" cy="1615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00FF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Reports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441680" y="4937760"/>
            <a:ext cx="3909060" cy="685800"/>
            <a:chOff x="0" y="0"/>
            <a:chExt cx="521208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12080" cy="914400"/>
            </a:xfrm>
            <a:custGeom>
              <a:avLst/>
              <a:gdLst/>
              <a:ahLst/>
              <a:cxnLst/>
              <a:rect l="l" t="t" r="r" b="b"/>
              <a:pathLst>
                <a:path w="5212080" h="914400">
                  <a:moveTo>
                    <a:pt x="0" y="0"/>
                  </a:moveTo>
                  <a:lnTo>
                    <a:pt x="5212080" y="0"/>
                  </a:lnTo>
                  <a:lnTo>
                    <a:pt x="5212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87" b="-60987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3475018" y="7126129"/>
            <a:ext cx="3909060" cy="1035367"/>
            <a:chOff x="0" y="0"/>
            <a:chExt cx="5212080" cy="138049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212080" cy="1380490"/>
            </a:xfrm>
            <a:custGeom>
              <a:avLst/>
              <a:gdLst/>
              <a:ahLst/>
              <a:cxnLst/>
              <a:rect l="l" t="t" r="r" b="b"/>
              <a:pathLst>
                <a:path w="5212080" h="1380490">
                  <a:moveTo>
                    <a:pt x="0" y="0"/>
                  </a:moveTo>
                  <a:lnTo>
                    <a:pt x="5212080" y="0"/>
                  </a:lnTo>
                  <a:lnTo>
                    <a:pt x="5212080" y="1380490"/>
                  </a:lnTo>
                  <a:lnTo>
                    <a:pt x="0" y="13804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412" b="-7719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5212080" cy="1447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59"/>
                </a:lnSpc>
              </a:pPr>
              <a:r>
                <a:rPr lang="en-US" sz="3049">
                  <a:solidFill>
                    <a:srgbClr val="A0B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PDF Output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2462" y="8208907"/>
            <a:ext cx="16870680" cy="2180011"/>
            <a:chOff x="0" y="0"/>
            <a:chExt cx="22494240" cy="290668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494239" cy="2906681"/>
            </a:xfrm>
            <a:custGeom>
              <a:avLst/>
              <a:gdLst/>
              <a:ahLst/>
              <a:cxnLst/>
              <a:rect l="l" t="t" r="r" b="b"/>
              <a:pathLst>
                <a:path w="22494239" h="2906681">
                  <a:moveTo>
                    <a:pt x="0" y="0"/>
                  </a:moveTo>
                  <a:lnTo>
                    <a:pt x="22494239" y="0"/>
                  </a:lnTo>
                  <a:lnTo>
                    <a:pt x="22494239" y="2906681"/>
                  </a:lnTo>
                  <a:lnTo>
                    <a:pt x="0" y="29066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3231" b="-78349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2494240" cy="2954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D7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in medical imaging is not replacing doctors — it's empowering them with faster, data-driven insights.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D7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is a step toward accessible, intelligent healthcare.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7955280"/>
            <a:ext cx="16870680" cy="822960"/>
            <a:chOff x="0" y="0"/>
            <a:chExt cx="22494240" cy="10972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494239" cy="1097280"/>
            </a:xfrm>
            <a:custGeom>
              <a:avLst/>
              <a:gdLst/>
              <a:ahLst/>
              <a:cxnLst/>
              <a:rect l="l" t="t" r="r" b="b"/>
              <a:pathLst>
                <a:path w="22494239" h="1097280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165" b="-349165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28700"/>
            <a:ext cx="18288000" cy="8501930"/>
          </a:xfrm>
          <a:custGeom>
            <a:avLst/>
            <a:gdLst/>
            <a:ahLst/>
            <a:cxnLst/>
            <a:rect l="l" t="t" r="r" b="b"/>
            <a:pathLst>
              <a:path w="18288000" h="8501930">
                <a:moveTo>
                  <a:pt x="0" y="0"/>
                </a:moveTo>
                <a:lnTo>
                  <a:pt x="18288000" y="0"/>
                </a:lnTo>
                <a:lnTo>
                  <a:pt x="18288000" y="8501930"/>
                </a:lnTo>
                <a:lnTo>
                  <a:pt x="0" y="8501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701" b="-21701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0287000"/>
            <a:chOff x="0" y="0"/>
            <a:chExt cx="24377904" cy="13716000"/>
          </a:xfrm>
        </p:grpSpPr>
        <p:sp>
          <p:nvSpPr>
            <p:cNvPr id="3" name="Freeform 3" descr="/home/claude/team_photo.jpg"/>
            <p:cNvSpPr/>
            <p:nvPr/>
          </p:nvSpPr>
          <p:spPr>
            <a:xfrm>
              <a:off x="0" y="0"/>
              <a:ext cx="24377904" cy="13716000"/>
            </a:xfrm>
            <a:custGeom>
              <a:avLst/>
              <a:gdLst/>
              <a:ahLst/>
              <a:cxnLst/>
              <a:rect l="l" t="t" r="r" b="b"/>
              <a:pathLst>
                <a:path w="24377904" h="13716000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118" b="-2111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9525" y="-9525"/>
            <a:ext cx="18302478" cy="10306050"/>
            <a:chOff x="0" y="0"/>
            <a:chExt cx="24403304" cy="13741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3304" cy="13741400"/>
            </a:xfrm>
            <a:custGeom>
              <a:avLst/>
              <a:gdLst/>
              <a:ahLst/>
              <a:cxnLst/>
              <a:rect l="l" t="t" r="r" b="b"/>
              <a:pathLst>
                <a:path w="24403304" h="13741400">
                  <a:moveTo>
                    <a:pt x="0" y="0"/>
                  </a:moveTo>
                  <a:lnTo>
                    <a:pt x="24403304" y="0"/>
                  </a:lnTo>
                  <a:lnTo>
                    <a:pt x="2440330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00000">
                <a:alpha val="9020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2468880"/>
            <a:ext cx="16870680" cy="1920240"/>
            <a:chOff x="0" y="0"/>
            <a:chExt cx="2249424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94239" cy="2560320"/>
            </a:xfrm>
            <a:custGeom>
              <a:avLst/>
              <a:gdLst/>
              <a:ahLst/>
              <a:cxnLst/>
              <a:rect l="l" t="t" r="r" b="b"/>
              <a:pathLst>
                <a:path w="22494239" h="2560320">
                  <a:moveTo>
                    <a:pt x="0" y="0"/>
                  </a:moveTo>
                  <a:lnTo>
                    <a:pt x="22494239" y="0"/>
                  </a:lnTo>
                  <a:lnTo>
                    <a:pt x="22494239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070" b="-1210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5829300"/>
            <a:ext cx="16870680" cy="2170733"/>
            <a:chOff x="0" y="0"/>
            <a:chExt cx="22494240" cy="28943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2894310"/>
            </a:xfrm>
            <a:custGeom>
              <a:avLst/>
              <a:gdLst/>
              <a:ahLst/>
              <a:cxnLst/>
              <a:rect l="l" t="t" r="r" b="b"/>
              <a:pathLst>
                <a:path w="22494239" h="2894310">
                  <a:moveTo>
                    <a:pt x="0" y="0"/>
                  </a:moveTo>
                  <a:lnTo>
                    <a:pt x="22494239" y="0"/>
                  </a:lnTo>
                  <a:lnTo>
                    <a:pt x="22494239" y="2894310"/>
                  </a:lnTo>
                  <a:lnTo>
                    <a:pt x="0" y="28943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420" b="-9945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19075"/>
              <a:ext cx="22494240" cy="3113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960"/>
                </a:lnSpc>
              </a:pPr>
              <a:r>
                <a:rPr lang="en-US" sz="10800" b="1">
                  <a:solidFill>
                    <a:srgbClr val="FFB3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06257" y="7644622"/>
            <a:ext cx="8715566" cy="115634"/>
            <a:chOff x="0" y="0"/>
            <a:chExt cx="11620754" cy="1541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20754" cy="154178"/>
            </a:xfrm>
            <a:custGeom>
              <a:avLst/>
              <a:gdLst/>
              <a:ahLst/>
              <a:cxnLst/>
              <a:rect l="l" t="t" r="r" b="b"/>
              <a:pathLst>
                <a:path w="11620754" h="154178">
                  <a:moveTo>
                    <a:pt x="0" y="0"/>
                  </a:moveTo>
                  <a:lnTo>
                    <a:pt x="11620754" y="0"/>
                  </a:lnTo>
                  <a:lnTo>
                    <a:pt x="11620754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FFB300"/>
            </a:solidFill>
            <a:ln w="19050" cap="sq">
              <a:solidFill>
                <a:srgbClr val="00B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85800" y="4869180"/>
            <a:ext cx="16870680" cy="754380"/>
            <a:chOff x="0" y="0"/>
            <a:chExt cx="2249424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39" cy="1005840"/>
            </a:xfrm>
            <a:custGeom>
              <a:avLst/>
              <a:gdLst/>
              <a:ahLst/>
              <a:cxnLst/>
              <a:rect l="l" t="t" r="r" b="b"/>
              <a:pathLst>
                <a:path w="22494239" h="1005840">
                  <a:moveTo>
                    <a:pt x="0" y="0"/>
                  </a:moveTo>
                  <a:lnTo>
                    <a:pt x="22494239" y="0"/>
                  </a:lnTo>
                  <a:lnTo>
                    <a:pt x="224942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5453" b="-38545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28700" y="7760256"/>
            <a:ext cx="16870680" cy="797243"/>
            <a:chOff x="0" y="0"/>
            <a:chExt cx="22494240" cy="10629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94239" cy="1062990"/>
            </a:xfrm>
            <a:custGeom>
              <a:avLst/>
              <a:gdLst/>
              <a:ahLst/>
              <a:cxnLst/>
              <a:rect l="l" t="t" r="r" b="b"/>
              <a:pathLst>
                <a:path w="22494239" h="1062990">
                  <a:moveTo>
                    <a:pt x="0" y="0"/>
                  </a:moveTo>
                  <a:lnTo>
                    <a:pt x="22494239" y="0"/>
                  </a:lnTo>
                  <a:lnTo>
                    <a:pt x="22494239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62328" b="-36232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2494240" cy="1120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Medical Report Generator from X-Ray Images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5829300"/>
            <a:ext cx="16870680" cy="685800"/>
            <a:chOff x="0" y="0"/>
            <a:chExt cx="2249424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8998" b="-42899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08660" y="8499634"/>
            <a:ext cx="16870680" cy="721519"/>
            <a:chOff x="0" y="0"/>
            <a:chExt cx="22494240" cy="9620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494239" cy="962025"/>
            </a:xfrm>
            <a:custGeom>
              <a:avLst/>
              <a:gdLst/>
              <a:ahLst/>
              <a:cxnLst/>
              <a:rect l="l" t="t" r="r" b="b"/>
              <a:pathLst>
                <a:path w="22494239" h="962025">
                  <a:moveTo>
                    <a:pt x="0" y="0"/>
                  </a:moveTo>
                  <a:lnTo>
                    <a:pt x="22494239" y="0"/>
                  </a:lnTo>
                  <a:lnTo>
                    <a:pt x="22494239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5602" b="-40560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2494240" cy="1009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Aravind Nagaraj Kavadikeri   •   Ankit A Hegde   •   Indushree S   •   Goutam Ganesh Bhat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6720840"/>
            <a:ext cx="16870680" cy="548640"/>
            <a:chOff x="0" y="0"/>
            <a:chExt cx="2249424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494239" cy="731520"/>
            </a:xfrm>
            <a:custGeom>
              <a:avLst/>
              <a:gdLst/>
              <a:ahLst/>
              <a:cxnLst/>
              <a:rect l="l" t="t" r="r" b="b"/>
              <a:pathLst>
                <a:path w="22494239" h="731520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748" b="-548748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685800" y="9258300"/>
            <a:ext cx="16870680" cy="654789"/>
            <a:chOff x="0" y="0"/>
            <a:chExt cx="22494240" cy="8730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494239" cy="873052"/>
            </a:xfrm>
            <a:custGeom>
              <a:avLst/>
              <a:gdLst/>
              <a:ahLst/>
              <a:cxnLst/>
              <a:rect l="l" t="t" r="r" b="b"/>
              <a:pathLst>
                <a:path w="22494239" h="873052">
                  <a:moveTo>
                    <a:pt x="0" y="0"/>
                  </a:moveTo>
                  <a:lnTo>
                    <a:pt x="22494239" y="0"/>
                  </a:lnTo>
                  <a:lnTo>
                    <a:pt x="22494239" y="873052"/>
                  </a:lnTo>
                  <a:lnTo>
                    <a:pt x="0" y="8730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7411" b="-44665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2494240" cy="920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59"/>
                </a:lnSpc>
              </a:pPr>
              <a:r>
                <a:rPr lang="en-US" sz="2549" b="1" i="1">
                  <a:solidFill>
                    <a:srgbClr val="00000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Presidency University • Bangalore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" y="8476283"/>
            <a:ext cx="16870680" cy="700802"/>
            <a:chOff x="0" y="0"/>
            <a:chExt cx="22494240" cy="93440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494239" cy="934402"/>
            </a:xfrm>
            <a:custGeom>
              <a:avLst/>
              <a:gdLst/>
              <a:ahLst/>
              <a:cxnLst/>
              <a:rect l="l" t="t" r="r" b="b"/>
              <a:pathLst>
                <a:path w="22494239" h="934402">
                  <a:moveTo>
                    <a:pt x="0" y="0"/>
                  </a:moveTo>
                  <a:lnTo>
                    <a:pt x="22494239" y="0"/>
                  </a:lnTo>
                  <a:lnTo>
                    <a:pt x="22494239" y="934402"/>
                  </a:lnTo>
                  <a:lnTo>
                    <a:pt x="0" y="9344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8744" b="-418744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028700" y="9500235"/>
            <a:ext cx="16870680" cy="1027747"/>
            <a:chOff x="0" y="0"/>
            <a:chExt cx="22494240" cy="13703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494239" cy="1370329"/>
            </a:xfrm>
            <a:custGeom>
              <a:avLst/>
              <a:gdLst/>
              <a:ahLst/>
              <a:cxnLst/>
              <a:rect l="l" t="t" r="r" b="b"/>
              <a:pathLst>
                <a:path w="22494239" h="1370329">
                  <a:moveTo>
                    <a:pt x="0" y="0"/>
                  </a:moveTo>
                  <a:lnTo>
                    <a:pt x="22494239" y="0"/>
                  </a:lnTo>
                  <a:lnTo>
                    <a:pt x="22494239" y="1370329"/>
                  </a:lnTo>
                  <a:lnTo>
                    <a:pt x="0" y="13703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91769" b="-24793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2494240" cy="14179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  •  Transfer Learning  •  Multi-Model Comparison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Microsoft Office PowerPoint</Application>
  <PresentationFormat>Custom</PresentationFormat>
  <Paragraphs>312</Paragraphs>
  <Slides>16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Roboto</vt:lpstr>
      <vt:lpstr>Calibri (MS) Bold</vt:lpstr>
      <vt:lpstr>Arial</vt:lpstr>
      <vt:lpstr>Calibri (MS)</vt:lpstr>
      <vt:lpstr>Calibri</vt:lpstr>
      <vt:lpstr>Calibri (MS)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AI_Medical_Xray_Report.pptx_20260610_070922_0000.pptx</dc:title>
  <cp:lastModifiedBy>GOUTAM BHAT</cp:lastModifiedBy>
  <cp:revision>2</cp:revision>
  <dcterms:created xsi:type="dcterms:W3CDTF">2006-08-16T00:00:00Z</dcterms:created>
  <dcterms:modified xsi:type="dcterms:W3CDTF">2026-06-10T14:04:05Z</dcterms:modified>
  <dc:identifier>DAHMI6v56Zc</dc:identifier>
</cp:coreProperties>
</file>